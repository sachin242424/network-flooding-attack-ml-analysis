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diagrams/layout1.xml" ContentType="application/vnd.openxmlformats-officedocument.drawingml.diagramLayout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</p:sldIdLst>
  <p:sldSz cy="32918400" cx="164592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E9EBF5"/>
    <a:srgbClr val="CFD5EA"/>
    <a:srgbClr val="4472C4"/>
    <a:srgbClr val="306C94"/>
    <a:srgbClr val="428EC2"/>
    <a:srgbClr val="526DA8"/>
    <a:srgbClr val="306D96"/>
    <a:srgbClr val="D7F5CD"/>
    <a:srgbClr val="D6F5CC"/>
    <a:srgbClr val="FBDCB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napVertSplitter="1" vertBarState="minimized" horzBarState="maximized">
    <p:restoredLeft sz="12316" autoAdjust="0"/>
    <p:restoredTop sz="94660"/>
  </p:normalViewPr>
  <p:slideViewPr>
    <p:cSldViewPr snapToGrid="0">
      <p:cViewPr>
        <p:scale>
          <a:sx n="66" d="100"/>
          <a:sy n="66" d="100"/>
        </p:scale>
        <p:origin x="172" y="2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tableStyles" Target="tableStyle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BA4828-A4ED-4847-81CD-7021E98E15B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AE45E1-E6C4-4D1B-9489-18D95534F447}">
      <dgm:prSet phldrT="[Text]"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</a:p>
      </dgm:t>
    </dgm:pt>
    <dgm:pt modelId="{84A48A22-0E82-40FA-92AF-E2A95F85580E}" type="parTrans" cxnId="{32E2A791-F7D9-449A-9D19-C787470AAEC2}">
      <dgm:prSet/>
      <dgm:spPr/>
      <dgm:t>
        <a:bodyPr/>
        <a:lstStyle/>
        <a:p>
          <a:endParaRPr lang="en-IN"/>
        </a:p>
      </dgm:t>
    </dgm:pt>
    <dgm:pt modelId="{0656DD1E-E5D8-48F0-8FF6-47D93BD3C926}" type="sibTrans" cxnId="{32E2A791-F7D9-449A-9D19-C787470AAEC2}">
      <dgm:prSet/>
      <dgm:spPr/>
      <dgm:t>
        <a:bodyPr/>
        <a:lstStyle/>
        <a:p>
          <a:endParaRPr lang="en-IN"/>
        </a:p>
      </dgm:t>
    </dgm:pt>
    <dgm:pt modelId="{99A59B91-E638-45A3-95B2-37E78220D76D}">
      <dgm:prSet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Augmentation</a:t>
          </a:r>
        </a:p>
      </dgm:t>
    </dgm:pt>
    <dgm:pt modelId="{918E0ECC-5BC5-4B2F-9010-E3AF0276043B}" type="parTrans" cxnId="{B62C812B-6A2A-4C48-BCFF-5EB81B62A1D3}">
      <dgm:prSet/>
      <dgm:spPr/>
      <dgm:t>
        <a:bodyPr/>
        <a:lstStyle/>
        <a:p>
          <a:endParaRPr lang="en-IN"/>
        </a:p>
      </dgm:t>
    </dgm:pt>
    <dgm:pt modelId="{0156B5F4-DB67-49DA-AE4A-450033A4084E}" type="sibTrans" cxnId="{B62C812B-6A2A-4C48-BCFF-5EB81B62A1D3}">
      <dgm:prSet/>
      <dgm:spPr/>
      <dgm:t>
        <a:bodyPr/>
        <a:lstStyle/>
        <a:p>
          <a:endParaRPr lang="en-IN"/>
        </a:p>
      </dgm:t>
    </dgm:pt>
    <dgm:pt modelId="{541FBF14-2C4D-4A8E-967E-04ECBABE3C33}">
      <dgm:prSet custT="1"/>
      <dgm:spPr/>
      <dgm:t>
        <a:bodyPr/>
        <a:lstStyle/>
        <a:p>
          <a:r>
            <a:rPr lang="en-US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Models</a:t>
          </a:r>
        </a:p>
      </dgm:t>
    </dgm:pt>
    <dgm:pt modelId="{C66F04B0-26AC-4F11-BCA2-8D29A4809FAD}" type="parTrans" cxnId="{A2575F24-237F-4E29-BA4D-92B1B395C663}">
      <dgm:prSet/>
      <dgm:spPr/>
      <dgm:t>
        <a:bodyPr/>
        <a:lstStyle/>
        <a:p>
          <a:endParaRPr lang="en-IN"/>
        </a:p>
      </dgm:t>
    </dgm:pt>
    <dgm:pt modelId="{B11BB0B0-D833-47CB-99DD-600F053E5344}" type="sibTrans" cxnId="{A2575F24-237F-4E29-BA4D-92B1B395C663}">
      <dgm:prSet/>
      <dgm:spPr/>
      <dgm:t>
        <a:bodyPr/>
        <a:lstStyle/>
        <a:p>
          <a:endParaRPr lang="en-IN"/>
        </a:p>
      </dgm:t>
    </dgm:pt>
    <dgm:pt modelId="{B47F170D-3562-4E42-B0E3-8533A8A66F80}">
      <dgm:prSet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Parameters</a:t>
          </a:r>
        </a:p>
      </dgm:t>
    </dgm:pt>
    <dgm:pt modelId="{8A0FAE5B-9858-4139-9055-7A551C607277}" type="parTrans" cxnId="{A092CA37-D0E2-4038-96D3-D0CE009285FD}">
      <dgm:prSet/>
      <dgm:spPr/>
      <dgm:t>
        <a:bodyPr/>
        <a:lstStyle/>
        <a:p>
          <a:endParaRPr lang="en-IN"/>
        </a:p>
      </dgm:t>
    </dgm:pt>
    <dgm:pt modelId="{D316E1E0-03B5-404C-AE14-15EAB25A34A6}" type="sibTrans" cxnId="{A092CA37-D0E2-4038-96D3-D0CE009285FD}">
      <dgm:prSet/>
      <dgm:spPr/>
      <dgm:t>
        <a:bodyPr/>
        <a:lstStyle/>
        <a:p>
          <a:endParaRPr lang="en-IN"/>
        </a:p>
      </dgm:t>
    </dgm:pt>
    <dgm:pt modelId="{D34A5406-F9B4-420C-BD13-52C5E57F191F}">
      <dgm:prSet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Metrics</a:t>
          </a:r>
        </a:p>
      </dgm:t>
    </dgm:pt>
    <dgm:pt modelId="{DDB0DF93-CAE2-4743-8237-F9E411BE6325}" type="parTrans" cxnId="{9F63C67B-A671-422B-9267-73EA410D6BD9}">
      <dgm:prSet/>
      <dgm:spPr/>
      <dgm:t>
        <a:bodyPr/>
        <a:lstStyle/>
        <a:p>
          <a:endParaRPr lang="en-IN"/>
        </a:p>
      </dgm:t>
    </dgm:pt>
    <dgm:pt modelId="{53D4A3AC-FBE8-448B-8A19-296BE163EE8D}" type="sibTrans" cxnId="{9F63C67B-A671-422B-9267-73EA410D6BD9}">
      <dgm:prSet/>
      <dgm:spPr/>
      <dgm:t>
        <a:bodyPr/>
        <a:lstStyle/>
        <a:p>
          <a:endParaRPr lang="en-IN"/>
        </a:p>
      </dgm:t>
    </dgm:pt>
    <dgm:pt modelId="{F2C463D8-3382-48C4-992D-7353F8D73C81}">
      <dgm:prSet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Experimental Setup</a:t>
          </a:r>
        </a:p>
      </dgm:t>
    </dgm:pt>
    <dgm:pt modelId="{0D2A4817-D3E3-495D-A0A6-2AE4805987F7}" type="parTrans" cxnId="{5701CBF8-84B5-4156-8B62-1002866319CE}">
      <dgm:prSet/>
      <dgm:spPr/>
      <dgm:t>
        <a:bodyPr/>
        <a:lstStyle/>
        <a:p>
          <a:endParaRPr lang="en-IN"/>
        </a:p>
      </dgm:t>
    </dgm:pt>
    <dgm:pt modelId="{C119C4D1-8ECD-4EE0-AE80-5D5A0161CDC3}" type="sibTrans" cxnId="{5701CBF8-84B5-4156-8B62-1002866319CE}">
      <dgm:prSet/>
      <dgm:spPr/>
      <dgm:t>
        <a:bodyPr/>
        <a:lstStyle/>
        <a:p>
          <a:endParaRPr lang="en-IN"/>
        </a:p>
      </dgm:t>
    </dgm:pt>
    <dgm:pt modelId="{B471077B-4AE0-41ED-B53D-8E1FC68963A9}">
      <dgm:prSet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Text Preprocessing</a:t>
          </a:r>
        </a:p>
      </dgm:t>
    </dgm:pt>
    <dgm:pt modelId="{8A08F6C8-4E7F-4F6C-ABFE-E17238A9A35D}" type="parTrans" cxnId="{2708BB37-BAB0-4EC1-9238-DF76149DA72D}">
      <dgm:prSet/>
      <dgm:spPr/>
      <dgm:t>
        <a:bodyPr/>
        <a:lstStyle/>
        <a:p>
          <a:endParaRPr lang="en-IN"/>
        </a:p>
      </dgm:t>
    </dgm:pt>
    <dgm:pt modelId="{C4C802FB-A3F1-40FD-A09F-F4D1977D5AEE}" type="sibTrans" cxnId="{2708BB37-BAB0-4EC1-9238-DF76149DA72D}">
      <dgm:prSet/>
      <dgm:spPr/>
      <dgm:t>
        <a:bodyPr/>
        <a:lstStyle/>
        <a:p>
          <a:endParaRPr lang="en-IN"/>
        </a:p>
      </dgm:t>
    </dgm:pt>
    <dgm:pt modelId="{49BAD37A-B8D4-4C7E-B015-B5C15610C571}" type="pres">
      <dgm:prSet presAssocID="{23BA4828-A4ED-4847-81CD-7021E98E15BD}" presName="CompostProcess" presStyleCnt="0">
        <dgm:presLayoutVars>
          <dgm:dir/>
          <dgm:resizeHandles val="exact"/>
        </dgm:presLayoutVars>
      </dgm:prSet>
      <dgm:spPr/>
    </dgm:pt>
    <dgm:pt modelId="{53D895E6-5A56-4CE7-96AE-3ABB1F7C5DD0}" type="pres">
      <dgm:prSet presAssocID="{23BA4828-A4ED-4847-81CD-7021E98E15BD}" presName="arrow" presStyleLbl="bgShp" presStyleIdx="0" presStyleCnt="1"/>
      <dgm:spPr/>
    </dgm:pt>
    <dgm:pt modelId="{9FFEE254-FAEF-4EF0-B452-DE6D0539FE8F}" type="pres">
      <dgm:prSet presAssocID="{23BA4828-A4ED-4847-81CD-7021E98E15BD}" presName="linearProcess" presStyleCnt="0"/>
      <dgm:spPr/>
    </dgm:pt>
    <dgm:pt modelId="{40823751-195E-41A6-ADAF-169EFE3A6E4D}" type="pres">
      <dgm:prSet presAssocID="{BFAE45E1-E6C4-4D1B-9489-18D95534F447}" presName="textNode" presStyleLbl="node1" presStyleIdx="0" presStyleCnt="7">
        <dgm:presLayoutVars>
          <dgm:bulletEnabled val="1"/>
        </dgm:presLayoutVars>
      </dgm:prSet>
      <dgm:spPr/>
    </dgm:pt>
    <dgm:pt modelId="{17E808CF-F93E-43FC-B113-539E44FBA634}" type="pres">
      <dgm:prSet presAssocID="{0656DD1E-E5D8-48F0-8FF6-47D93BD3C926}" presName="sibTrans" presStyleCnt="0"/>
      <dgm:spPr/>
    </dgm:pt>
    <dgm:pt modelId="{9FF24448-4C77-43E2-9CF4-1B4AAC83C06E}" type="pres">
      <dgm:prSet presAssocID="{541FBF14-2C4D-4A8E-967E-04ECBABE3C33}" presName="textNode" presStyleLbl="node1" presStyleIdx="1" presStyleCnt="7">
        <dgm:presLayoutVars>
          <dgm:bulletEnabled val="1"/>
        </dgm:presLayoutVars>
      </dgm:prSet>
      <dgm:spPr/>
    </dgm:pt>
    <dgm:pt modelId="{B3A94478-7C49-45B4-B0B4-7C1129452DEB}" type="pres">
      <dgm:prSet presAssocID="{B11BB0B0-D833-47CB-99DD-600F053E5344}" presName="sibTrans" presStyleCnt="0"/>
      <dgm:spPr/>
    </dgm:pt>
    <dgm:pt modelId="{ED050B1E-A1D5-4B30-9418-B25662B5F205}" type="pres">
      <dgm:prSet presAssocID="{B47F170D-3562-4E42-B0E3-8533A8A66F80}" presName="textNode" presStyleLbl="node1" presStyleIdx="2" presStyleCnt="7">
        <dgm:presLayoutVars>
          <dgm:bulletEnabled val="1"/>
        </dgm:presLayoutVars>
      </dgm:prSet>
      <dgm:spPr/>
    </dgm:pt>
    <dgm:pt modelId="{753BA26B-B041-43DC-A425-54CD4B3E6910}" type="pres">
      <dgm:prSet presAssocID="{D316E1E0-03B5-404C-AE14-15EAB25A34A6}" presName="sibTrans" presStyleCnt="0"/>
      <dgm:spPr/>
    </dgm:pt>
    <dgm:pt modelId="{10B40D3D-BBB4-47CB-9C32-E462BB85DE81}" type="pres">
      <dgm:prSet presAssocID="{D34A5406-F9B4-420C-BD13-52C5E57F191F}" presName="textNode" presStyleLbl="node1" presStyleIdx="3" presStyleCnt="7">
        <dgm:presLayoutVars>
          <dgm:bulletEnabled val="1"/>
        </dgm:presLayoutVars>
      </dgm:prSet>
      <dgm:spPr/>
    </dgm:pt>
    <dgm:pt modelId="{5B1DC1C6-CD6A-4AAE-A3DB-FB893C615982}" type="pres">
      <dgm:prSet presAssocID="{53D4A3AC-FBE8-448B-8A19-296BE163EE8D}" presName="sibTrans" presStyleCnt="0"/>
      <dgm:spPr/>
    </dgm:pt>
    <dgm:pt modelId="{B00716AC-3815-42B2-A925-98C3DCE57E14}" type="pres">
      <dgm:prSet presAssocID="{F2C463D8-3382-48C4-992D-7353F8D73C81}" presName="textNode" presStyleLbl="node1" presStyleIdx="4" presStyleCnt="7">
        <dgm:presLayoutVars>
          <dgm:bulletEnabled val="1"/>
        </dgm:presLayoutVars>
      </dgm:prSet>
      <dgm:spPr/>
    </dgm:pt>
    <dgm:pt modelId="{235F8A8E-082B-4BF9-9C8E-3D5FA58DB5CF}" type="pres">
      <dgm:prSet presAssocID="{C119C4D1-8ECD-4EE0-AE80-5D5A0161CDC3}" presName="sibTrans" presStyleCnt="0"/>
      <dgm:spPr/>
    </dgm:pt>
    <dgm:pt modelId="{FA8D58FC-5FF6-4CA2-A410-CA97ED6C476D}" type="pres">
      <dgm:prSet presAssocID="{B471077B-4AE0-41ED-B53D-8E1FC68963A9}" presName="textNode" presStyleLbl="node1" presStyleIdx="5" presStyleCnt="7">
        <dgm:presLayoutVars>
          <dgm:bulletEnabled val="1"/>
        </dgm:presLayoutVars>
      </dgm:prSet>
      <dgm:spPr/>
    </dgm:pt>
    <dgm:pt modelId="{794E8171-8883-4F4D-9278-707D381C3F53}" type="pres">
      <dgm:prSet presAssocID="{C4C802FB-A3F1-40FD-A09F-F4D1977D5AEE}" presName="sibTrans" presStyleCnt="0"/>
      <dgm:spPr/>
    </dgm:pt>
    <dgm:pt modelId="{978F1980-168D-447E-B550-7C3414D2D4F6}" type="pres">
      <dgm:prSet presAssocID="{99A59B91-E638-45A3-95B2-37E78220D76D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09124902-7691-461A-A80C-EF9D000BBA82}" type="presOf" srcId="{D34A5406-F9B4-420C-BD13-52C5E57F191F}" destId="{10B40D3D-BBB4-47CB-9C32-E462BB85DE81}" srcOrd="0" destOrd="0" presId="urn:microsoft.com/office/officeart/2005/8/layout/hProcess9"/>
    <dgm:cxn modelId="{A7134914-8034-4210-A54C-FF92F39FC90B}" type="presOf" srcId="{F2C463D8-3382-48C4-992D-7353F8D73C81}" destId="{B00716AC-3815-42B2-A925-98C3DCE57E14}" srcOrd="0" destOrd="0" presId="urn:microsoft.com/office/officeart/2005/8/layout/hProcess9"/>
    <dgm:cxn modelId="{A2575F24-237F-4E29-BA4D-92B1B395C663}" srcId="{23BA4828-A4ED-4847-81CD-7021E98E15BD}" destId="{541FBF14-2C4D-4A8E-967E-04ECBABE3C33}" srcOrd="1" destOrd="0" parTransId="{C66F04B0-26AC-4F11-BCA2-8D29A4809FAD}" sibTransId="{B11BB0B0-D833-47CB-99DD-600F053E5344}"/>
    <dgm:cxn modelId="{B62C812B-6A2A-4C48-BCFF-5EB81B62A1D3}" srcId="{23BA4828-A4ED-4847-81CD-7021E98E15BD}" destId="{99A59B91-E638-45A3-95B2-37E78220D76D}" srcOrd="6" destOrd="0" parTransId="{918E0ECC-5BC5-4B2F-9010-E3AF0276043B}" sibTransId="{0156B5F4-DB67-49DA-AE4A-450033A4084E}"/>
    <dgm:cxn modelId="{2708BB37-BAB0-4EC1-9238-DF76149DA72D}" srcId="{23BA4828-A4ED-4847-81CD-7021E98E15BD}" destId="{B471077B-4AE0-41ED-B53D-8E1FC68963A9}" srcOrd="5" destOrd="0" parTransId="{8A08F6C8-4E7F-4F6C-ABFE-E17238A9A35D}" sibTransId="{C4C802FB-A3F1-40FD-A09F-F4D1977D5AEE}"/>
    <dgm:cxn modelId="{A092CA37-D0E2-4038-96D3-D0CE009285FD}" srcId="{23BA4828-A4ED-4847-81CD-7021E98E15BD}" destId="{B47F170D-3562-4E42-B0E3-8533A8A66F80}" srcOrd="2" destOrd="0" parTransId="{8A0FAE5B-9858-4139-9055-7A551C607277}" sibTransId="{D316E1E0-03B5-404C-AE14-15EAB25A34A6}"/>
    <dgm:cxn modelId="{A5BA7C6C-4170-4D15-9904-1ABFCCB133EF}" type="presOf" srcId="{23BA4828-A4ED-4847-81CD-7021E98E15BD}" destId="{49BAD37A-B8D4-4C7E-B015-B5C15610C571}" srcOrd="0" destOrd="0" presId="urn:microsoft.com/office/officeart/2005/8/layout/hProcess9"/>
    <dgm:cxn modelId="{9F63C67B-A671-422B-9267-73EA410D6BD9}" srcId="{23BA4828-A4ED-4847-81CD-7021E98E15BD}" destId="{D34A5406-F9B4-420C-BD13-52C5E57F191F}" srcOrd="3" destOrd="0" parTransId="{DDB0DF93-CAE2-4743-8237-F9E411BE6325}" sibTransId="{53D4A3AC-FBE8-448B-8A19-296BE163EE8D}"/>
    <dgm:cxn modelId="{048FEE88-9DB5-4B60-AC35-A2BE119FF5C7}" type="presOf" srcId="{B471077B-4AE0-41ED-B53D-8E1FC68963A9}" destId="{FA8D58FC-5FF6-4CA2-A410-CA97ED6C476D}" srcOrd="0" destOrd="0" presId="urn:microsoft.com/office/officeart/2005/8/layout/hProcess9"/>
    <dgm:cxn modelId="{32E2A791-F7D9-449A-9D19-C787470AAEC2}" srcId="{23BA4828-A4ED-4847-81CD-7021E98E15BD}" destId="{BFAE45E1-E6C4-4D1B-9489-18D95534F447}" srcOrd="0" destOrd="0" parTransId="{84A48A22-0E82-40FA-92AF-E2A95F85580E}" sibTransId="{0656DD1E-E5D8-48F0-8FF6-47D93BD3C926}"/>
    <dgm:cxn modelId="{DDE5F0C3-623D-441C-80F8-5256E3C3F3E4}" type="presOf" srcId="{BFAE45E1-E6C4-4D1B-9489-18D95534F447}" destId="{40823751-195E-41A6-ADAF-169EFE3A6E4D}" srcOrd="0" destOrd="0" presId="urn:microsoft.com/office/officeart/2005/8/layout/hProcess9"/>
    <dgm:cxn modelId="{37E388C8-C0CB-48E3-B870-C092EC2CC68E}" type="presOf" srcId="{541FBF14-2C4D-4A8E-967E-04ECBABE3C33}" destId="{9FF24448-4C77-43E2-9CF4-1B4AAC83C06E}" srcOrd="0" destOrd="0" presId="urn:microsoft.com/office/officeart/2005/8/layout/hProcess9"/>
    <dgm:cxn modelId="{436CEFDD-9BC1-4AD8-AE4F-6EA3DFD0BDAC}" type="presOf" srcId="{99A59B91-E638-45A3-95B2-37E78220D76D}" destId="{978F1980-168D-447E-B550-7C3414D2D4F6}" srcOrd="0" destOrd="0" presId="urn:microsoft.com/office/officeart/2005/8/layout/hProcess9"/>
    <dgm:cxn modelId="{AF9EF6ED-F5E3-42D6-99CF-46EBC5778D91}" type="presOf" srcId="{B47F170D-3562-4E42-B0E3-8533A8A66F80}" destId="{ED050B1E-A1D5-4B30-9418-B25662B5F205}" srcOrd="0" destOrd="0" presId="urn:microsoft.com/office/officeart/2005/8/layout/hProcess9"/>
    <dgm:cxn modelId="{5701CBF8-84B5-4156-8B62-1002866319CE}" srcId="{23BA4828-A4ED-4847-81CD-7021E98E15BD}" destId="{F2C463D8-3382-48C4-992D-7353F8D73C81}" srcOrd="4" destOrd="0" parTransId="{0D2A4817-D3E3-495D-A0A6-2AE4805987F7}" sibTransId="{C119C4D1-8ECD-4EE0-AE80-5D5A0161CDC3}"/>
    <dgm:cxn modelId="{AF5C40FC-9B22-4C90-A620-3407CC17DC42}" type="presParOf" srcId="{49BAD37A-B8D4-4C7E-B015-B5C15610C571}" destId="{53D895E6-5A56-4CE7-96AE-3ABB1F7C5DD0}" srcOrd="0" destOrd="0" presId="urn:microsoft.com/office/officeart/2005/8/layout/hProcess9"/>
    <dgm:cxn modelId="{7809CA4C-BA4C-4211-B2BB-6E9BD98EB96C}" type="presParOf" srcId="{49BAD37A-B8D4-4C7E-B015-B5C15610C571}" destId="{9FFEE254-FAEF-4EF0-B452-DE6D0539FE8F}" srcOrd="1" destOrd="0" presId="urn:microsoft.com/office/officeart/2005/8/layout/hProcess9"/>
    <dgm:cxn modelId="{5F08920B-BB87-4DE0-B1B1-FFDEBEBC467A}" type="presParOf" srcId="{9FFEE254-FAEF-4EF0-B452-DE6D0539FE8F}" destId="{40823751-195E-41A6-ADAF-169EFE3A6E4D}" srcOrd="0" destOrd="0" presId="urn:microsoft.com/office/officeart/2005/8/layout/hProcess9"/>
    <dgm:cxn modelId="{27969923-7A4D-4EB8-8B39-0035A5A95141}" type="presParOf" srcId="{9FFEE254-FAEF-4EF0-B452-DE6D0539FE8F}" destId="{17E808CF-F93E-43FC-B113-539E44FBA634}" srcOrd="1" destOrd="0" presId="urn:microsoft.com/office/officeart/2005/8/layout/hProcess9"/>
    <dgm:cxn modelId="{C3D56BFB-485A-4256-9061-52CC95D428A2}" type="presParOf" srcId="{9FFEE254-FAEF-4EF0-B452-DE6D0539FE8F}" destId="{9FF24448-4C77-43E2-9CF4-1B4AAC83C06E}" srcOrd="2" destOrd="0" presId="urn:microsoft.com/office/officeart/2005/8/layout/hProcess9"/>
    <dgm:cxn modelId="{5ECE84F7-D6FC-451B-9F38-DD98E08A5F11}" type="presParOf" srcId="{9FFEE254-FAEF-4EF0-B452-DE6D0539FE8F}" destId="{B3A94478-7C49-45B4-B0B4-7C1129452DEB}" srcOrd="3" destOrd="0" presId="urn:microsoft.com/office/officeart/2005/8/layout/hProcess9"/>
    <dgm:cxn modelId="{67BE6C1A-8F46-42B0-87D4-82BFC4017EC5}" type="presParOf" srcId="{9FFEE254-FAEF-4EF0-B452-DE6D0539FE8F}" destId="{ED050B1E-A1D5-4B30-9418-B25662B5F205}" srcOrd="4" destOrd="0" presId="urn:microsoft.com/office/officeart/2005/8/layout/hProcess9"/>
    <dgm:cxn modelId="{3BD76ED7-875B-481A-9253-B10210BCA7F1}" type="presParOf" srcId="{9FFEE254-FAEF-4EF0-B452-DE6D0539FE8F}" destId="{753BA26B-B041-43DC-A425-54CD4B3E6910}" srcOrd="5" destOrd="0" presId="urn:microsoft.com/office/officeart/2005/8/layout/hProcess9"/>
    <dgm:cxn modelId="{92A45F0B-F322-4700-AB7A-418E07BEC4AD}" type="presParOf" srcId="{9FFEE254-FAEF-4EF0-B452-DE6D0539FE8F}" destId="{10B40D3D-BBB4-47CB-9C32-E462BB85DE81}" srcOrd="6" destOrd="0" presId="urn:microsoft.com/office/officeart/2005/8/layout/hProcess9"/>
    <dgm:cxn modelId="{D4A6DEB0-A231-4501-904D-C9ABD189E1BF}" type="presParOf" srcId="{9FFEE254-FAEF-4EF0-B452-DE6D0539FE8F}" destId="{5B1DC1C6-CD6A-4AAE-A3DB-FB893C615982}" srcOrd="7" destOrd="0" presId="urn:microsoft.com/office/officeart/2005/8/layout/hProcess9"/>
    <dgm:cxn modelId="{3140D505-056F-4879-B9CE-935BE9679D51}" type="presParOf" srcId="{9FFEE254-FAEF-4EF0-B452-DE6D0539FE8F}" destId="{B00716AC-3815-42B2-A925-98C3DCE57E14}" srcOrd="8" destOrd="0" presId="urn:microsoft.com/office/officeart/2005/8/layout/hProcess9"/>
    <dgm:cxn modelId="{F27053AC-CBE0-4855-A1DE-A7BCE7C0D0D1}" type="presParOf" srcId="{9FFEE254-FAEF-4EF0-B452-DE6D0539FE8F}" destId="{235F8A8E-082B-4BF9-9C8E-3D5FA58DB5CF}" srcOrd="9" destOrd="0" presId="urn:microsoft.com/office/officeart/2005/8/layout/hProcess9"/>
    <dgm:cxn modelId="{793B765E-ECBF-42A0-B540-FBCB3C5CB936}" type="presParOf" srcId="{9FFEE254-FAEF-4EF0-B452-DE6D0539FE8F}" destId="{FA8D58FC-5FF6-4CA2-A410-CA97ED6C476D}" srcOrd="10" destOrd="0" presId="urn:microsoft.com/office/officeart/2005/8/layout/hProcess9"/>
    <dgm:cxn modelId="{016CFC4E-875E-4CF6-89A5-548AAEE6A471}" type="presParOf" srcId="{9FFEE254-FAEF-4EF0-B452-DE6D0539FE8F}" destId="{794E8171-8883-4F4D-9278-707D381C3F53}" srcOrd="11" destOrd="0" presId="urn:microsoft.com/office/officeart/2005/8/layout/hProcess9"/>
    <dgm:cxn modelId="{086B64C9-FC30-4302-957E-FC557DA61E03}" type="presParOf" srcId="{9FFEE254-FAEF-4EF0-B452-DE6D0539FE8F}" destId="{978F1980-168D-447E-B550-7C3414D2D4F6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895E6-5A56-4CE7-96AE-3ABB1F7C5DD0}">
      <dsp:nvSpPr>
        <dsp:cNvPr id="0" name=""/>
        <dsp:cNvSpPr/>
      </dsp:nvSpPr>
      <dsp:spPr>
        <a:xfrm>
          <a:off x="552506" y="0"/>
          <a:ext cx="6261742" cy="204883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823751-195E-41A6-ADAF-169EFE3A6E4D}">
      <dsp:nvSpPr>
        <dsp:cNvPr id="0" name=""/>
        <dsp:cNvSpPr/>
      </dsp:nvSpPr>
      <dsp:spPr>
        <a:xfrm>
          <a:off x="1438" y="614648"/>
          <a:ext cx="920484" cy="8195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</a:p>
      </dsp:txBody>
      <dsp:txXfrm>
        <a:off x="41444" y="654654"/>
        <a:ext cx="840472" cy="739520"/>
      </dsp:txXfrm>
    </dsp:sp>
    <dsp:sp modelId="{9FF24448-4C77-43E2-9CF4-1B4AAC83C06E}">
      <dsp:nvSpPr>
        <dsp:cNvPr id="0" name=""/>
        <dsp:cNvSpPr/>
      </dsp:nvSpPr>
      <dsp:spPr>
        <a:xfrm>
          <a:off x="1075337" y="614648"/>
          <a:ext cx="920484" cy="8195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Models</a:t>
          </a:r>
        </a:p>
      </dsp:txBody>
      <dsp:txXfrm>
        <a:off x="1115343" y="654654"/>
        <a:ext cx="840472" cy="739520"/>
      </dsp:txXfrm>
    </dsp:sp>
    <dsp:sp modelId="{ED050B1E-A1D5-4B30-9418-B25662B5F205}">
      <dsp:nvSpPr>
        <dsp:cNvPr id="0" name=""/>
        <dsp:cNvSpPr/>
      </dsp:nvSpPr>
      <dsp:spPr>
        <a:xfrm>
          <a:off x="2149236" y="614648"/>
          <a:ext cx="920484" cy="8195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Parameters</a:t>
          </a:r>
        </a:p>
      </dsp:txBody>
      <dsp:txXfrm>
        <a:off x="2189242" y="654654"/>
        <a:ext cx="840472" cy="739520"/>
      </dsp:txXfrm>
    </dsp:sp>
    <dsp:sp modelId="{10B40D3D-BBB4-47CB-9C32-E462BB85DE81}">
      <dsp:nvSpPr>
        <dsp:cNvPr id="0" name=""/>
        <dsp:cNvSpPr/>
      </dsp:nvSpPr>
      <dsp:spPr>
        <a:xfrm>
          <a:off x="3223135" y="614648"/>
          <a:ext cx="920484" cy="8195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Evaluation Metrics</a:t>
          </a:r>
        </a:p>
      </dsp:txBody>
      <dsp:txXfrm>
        <a:off x="3263141" y="654654"/>
        <a:ext cx="840472" cy="739520"/>
      </dsp:txXfrm>
    </dsp:sp>
    <dsp:sp modelId="{B00716AC-3815-42B2-A925-98C3DCE57E14}">
      <dsp:nvSpPr>
        <dsp:cNvPr id="0" name=""/>
        <dsp:cNvSpPr/>
      </dsp:nvSpPr>
      <dsp:spPr>
        <a:xfrm>
          <a:off x="4297034" y="614648"/>
          <a:ext cx="920484" cy="8195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Experimental Setup</a:t>
          </a:r>
        </a:p>
      </dsp:txBody>
      <dsp:txXfrm>
        <a:off x="4337040" y="654654"/>
        <a:ext cx="840472" cy="739520"/>
      </dsp:txXfrm>
    </dsp:sp>
    <dsp:sp modelId="{FA8D58FC-5FF6-4CA2-A410-CA97ED6C476D}">
      <dsp:nvSpPr>
        <dsp:cNvPr id="0" name=""/>
        <dsp:cNvSpPr/>
      </dsp:nvSpPr>
      <dsp:spPr>
        <a:xfrm>
          <a:off x="5370933" y="614648"/>
          <a:ext cx="920484" cy="8195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Text Preprocessing</a:t>
          </a:r>
        </a:p>
      </dsp:txBody>
      <dsp:txXfrm>
        <a:off x="5410939" y="654654"/>
        <a:ext cx="840472" cy="739520"/>
      </dsp:txXfrm>
    </dsp:sp>
    <dsp:sp modelId="{978F1980-168D-447E-B550-7C3414D2D4F6}">
      <dsp:nvSpPr>
        <dsp:cNvPr id="0" name=""/>
        <dsp:cNvSpPr/>
      </dsp:nvSpPr>
      <dsp:spPr>
        <a:xfrm>
          <a:off x="6444832" y="614648"/>
          <a:ext cx="920484" cy="8195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Augmentation</a:t>
          </a:r>
        </a:p>
      </dsp:txBody>
      <dsp:txXfrm>
        <a:off x="6484838" y="654654"/>
        <a:ext cx="840472" cy="739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7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7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7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algn="ctr" indent="0" marL="0">
              <a:buNone/>
              <a:defRPr sz="4323"/>
            </a:lvl1pPr>
            <a:lvl2pPr algn="ctr" indent="0" marL="823285">
              <a:buNone/>
              <a:defRPr sz="3602"/>
            </a:lvl2pPr>
            <a:lvl3pPr algn="ctr" indent="0" marL="1646571">
              <a:buNone/>
              <a:defRPr sz="3241"/>
            </a:lvl3pPr>
            <a:lvl4pPr algn="ctr" indent="0" marL="2469856">
              <a:buNone/>
              <a:defRPr sz="2880"/>
            </a:lvl4pPr>
            <a:lvl5pPr algn="ctr" indent="0" marL="3293142">
              <a:buNone/>
              <a:defRPr sz="2880"/>
            </a:lvl5pPr>
            <a:lvl6pPr algn="ctr" indent="0" marL="4116427">
              <a:buNone/>
              <a:defRPr sz="2880"/>
            </a:lvl6pPr>
            <a:lvl7pPr algn="ctr" indent="0" marL="4939713">
              <a:buNone/>
              <a:defRPr sz="2880"/>
            </a:lvl7pPr>
            <a:lvl8pPr algn="ctr" indent="0" marL="5762993">
              <a:buNone/>
              <a:defRPr sz="2880"/>
            </a:lvl8pPr>
            <a:lvl9pPr algn="ctr" indent="0" marL="6586284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42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indent="0" marL="0">
              <a:buNone/>
              <a:defRPr sz="4323">
                <a:solidFill>
                  <a:schemeClr val="tx1"/>
                </a:solidFill>
              </a:defRPr>
            </a:lvl1pPr>
            <a:lvl2pPr indent="0" marL="823285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indent="0" marL="1646571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indent="0" marL="2469856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indent="0" marL="3293142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indent="0" marL="4116427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indent="0" marL="4939713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indent="0" marL="5762993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indent="0" marL="6586284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47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48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4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5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5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5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indent="0" marL="0">
              <a:buNone/>
              <a:defRPr b="1" sz="4323"/>
            </a:lvl1pPr>
            <a:lvl2pPr indent="0" marL="823285">
              <a:buNone/>
              <a:defRPr b="1" sz="3602"/>
            </a:lvl2pPr>
            <a:lvl3pPr indent="0" marL="1646571">
              <a:buNone/>
              <a:defRPr b="1" sz="3241"/>
            </a:lvl3pPr>
            <a:lvl4pPr indent="0" marL="2469856">
              <a:buNone/>
              <a:defRPr b="1" sz="2880"/>
            </a:lvl4pPr>
            <a:lvl5pPr indent="0" marL="3293142">
              <a:buNone/>
              <a:defRPr b="1" sz="2880"/>
            </a:lvl5pPr>
            <a:lvl6pPr indent="0" marL="4116427">
              <a:buNone/>
              <a:defRPr b="1" sz="2880"/>
            </a:lvl6pPr>
            <a:lvl7pPr indent="0" marL="4939713">
              <a:buNone/>
              <a:defRPr b="1" sz="2880"/>
            </a:lvl7pPr>
            <a:lvl8pPr indent="0" marL="5762993">
              <a:buNone/>
              <a:defRPr b="1" sz="2880"/>
            </a:lvl8pPr>
            <a:lvl9pPr indent="0" marL="6586284">
              <a:buNone/>
              <a:defRPr b="1" sz="2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5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indent="0" marL="0">
              <a:buNone/>
              <a:defRPr b="1" sz="4323"/>
            </a:lvl1pPr>
            <a:lvl2pPr indent="0" marL="823285">
              <a:buNone/>
              <a:defRPr b="1" sz="3602"/>
            </a:lvl2pPr>
            <a:lvl3pPr indent="0" marL="1646571">
              <a:buNone/>
              <a:defRPr b="1" sz="3241"/>
            </a:lvl3pPr>
            <a:lvl4pPr indent="0" marL="2469856">
              <a:buNone/>
              <a:defRPr b="1" sz="2880"/>
            </a:lvl4pPr>
            <a:lvl5pPr indent="0" marL="3293142">
              <a:buNone/>
              <a:defRPr b="1" sz="2880"/>
            </a:lvl5pPr>
            <a:lvl6pPr indent="0" marL="4116427">
              <a:buNone/>
              <a:defRPr b="1" sz="2880"/>
            </a:lvl6pPr>
            <a:lvl7pPr indent="0" marL="4939713">
              <a:buNone/>
              <a:defRPr b="1" sz="2880"/>
            </a:lvl7pPr>
            <a:lvl8pPr indent="0" marL="5762993">
              <a:buNone/>
              <a:defRPr b="1" sz="2880"/>
            </a:lvl8pPr>
            <a:lvl9pPr indent="0" marL="6586284">
              <a:buNone/>
              <a:defRPr b="1" sz="2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5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5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5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1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6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6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64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indent="0" marL="0">
              <a:buNone/>
              <a:defRPr sz="2880"/>
            </a:lvl1pPr>
            <a:lvl2pPr indent="0" marL="823285">
              <a:buNone/>
              <a:defRPr sz="2520"/>
            </a:lvl2pPr>
            <a:lvl3pPr indent="0" marL="1646571">
              <a:buNone/>
              <a:defRPr sz="2159"/>
            </a:lvl3pPr>
            <a:lvl4pPr indent="0" marL="2469856">
              <a:buNone/>
              <a:defRPr sz="1798"/>
            </a:lvl4pPr>
            <a:lvl5pPr indent="0" marL="3293142">
              <a:buNone/>
              <a:defRPr sz="1798"/>
            </a:lvl5pPr>
            <a:lvl6pPr indent="0" marL="4116427">
              <a:buNone/>
              <a:defRPr sz="1798"/>
            </a:lvl6pPr>
            <a:lvl7pPr indent="0" marL="4939713">
              <a:buNone/>
              <a:defRPr sz="1798"/>
            </a:lvl7pPr>
            <a:lvl8pPr indent="0" marL="5762993">
              <a:buNone/>
              <a:defRPr sz="1798"/>
            </a:lvl8pPr>
            <a:lvl9pPr indent="0" marL="6586284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31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indent="0" marL="0">
              <a:buNone/>
              <a:defRPr sz="5761"/>
            </a:lvl1pPr>
            <a:lvl2pPr indent="0" marL="823285">
              <a:buNone/>
              <a:defRPr sz="5039"/>
            </a:lvl2pPr>
            <a:lvl3pPr indent="0" marL="1646571">
              <a:buNone/>
              <a:defRPr sz="4323"/>
            </a:lvl3pPr>
            <a:lvl4pPr indent="0" marL="2469856">
              <a:buNone/>
              <a:defRPr sz="3602"/>
            </a:lvl4pPr>
            <a:lvl5pPr indent="0" marL="3293142">
              <a:buNone/>
              <a:defRPr sz="3602"/>
            </a:lvl5pPr>
            <a:lvl6pPr indent="0" marL="4116427">
              <a:buNone/>
              <a:defRPr sz="3602"/>
            </a:lvl6pPr>
            <a:lvl7pPr indent="0" marL="4939713">
              <a:buNone/>
              <a:defRPr sz="3602"/>
            </a:lvl7pPr>
            <a:lvl8pPr indent="0" marL="5762993">
              <a:buNone/>
              <a:defRPr sz="3602"/>
            </a:lvl8pPr>
            <a:lvl9pPr indent="0" marL="6586284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7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indent="0" marL="0">
              <a:buNone/>
              <a:defRPr sz="2880"/>
            </a:lvl1pPr>
            <a:lvl2pPr indent="0" marL="823285">
              <a:buNone/>
              <a:defRPr sz="2520"/>
            </a:lvl2pPr>
            <a:lvl3pPr indent="0" marL="1646571">
              <a:buNone/>
              <a:defRPr sz="2159"/>
            </a:lvl3pPr>
            <a:lvl4pPr indent="0" marL="2469856">
              <a:buNone/>
              <a:defRPr sz="1798"/>
            </a:lvl4pPr>
            <a:lvl5pPr indent="0" marL="3293142">
              <a:buNone/>
              <a:defRPr sz="1798"/>
            </a:lvl5pPr>
            <a:lvl6pPr indent="0" marL="4116427">
              <a:buNone/>
              <a:defRPr sz="1798"/>
            </a:lvl6pPr>
            <a:lvl7pPr indent="0" marL="4939713">
              <a:buNone/>
              <a:defRPr sz="1798"/>
            </a:lvl7pPr>
            <a:lvl8pPr indent="0" marL="5762993">
              <a:buNone/>
              <a:defRPr sz="1798"/>
            </a:lvl8pPr>
            <a:lvl9pPr indent="0" marL="6586284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3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7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46571" eaLnBrk="1" hangingPunct="1" latinLnBrk="0" rtl="0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1646571" eaLnBrk="1" hangingPunct="1" indent="-411645" latinLnBrk="0" marL="411645" rtl="0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1646571" eaLnBrk="1" hangingPunct="1" indent="-411645" latinLnBrk="0" marL="1234930" rtl="0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1646571" eaLnBrk="1" hangingPunct="1" indent="-411645" latinLnBrk="0" marL="2058212" rtl="0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1646571" eaLnBrk="1" hangingPunct="1" indent="-411645" latinLnBrk="0" marL="2881502" rtl="0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1646571" eaLnBrk="1" hangingPunct="1" indent="-411645" latinLnBrk="0" marL="3704783" rtl="0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1646571" eaLnBrk="1" hangingPunct="1" indent="-411645" latinLnBrk="0" marL="4528073" rtl="0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1646571" eaLnBrk="1" hangingPunct="1" indent="-411645" latinLnBrk="0" marL="5351359" rtl="0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1646571" eaLnBrk="1" hangingPunct="1" indent="-411645" latinLnBrk="0" marL="6174639" rtl="0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1646571" eaLnBrk="1" hangingPunct="1" indent="-411645" latinLnBrk="0" marL="6997930" rtl="0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1646571" eaLnBrk="1" hangingPunct="1" latinLnBrk="0" marL="0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1646571" eaLnBrk="1" hangingPunct="1" latinLnBrk="0" marL="823285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1646571" eaLnBrk="1" hangingPunct="1" latinLnBrk="0" marL="1646571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1646571" eaLnBrk="1" hangingPunct="1" latinLnBrk="0" marL="2469856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1646571" eaLnBrk="1" hangingPunct="1" latinLnBrk="0" marL="3293142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1646571" eaLnBrk="1" hangingPunct="1" latinLnBrk="0" marL="4116427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1646571" eaLnBrk="1" hangingPunct="1" latinLnBrk="0" marL="4939713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1646571" eaLnBrk="1" hangingPunct="1" latinLnBrk="0" marL="5762993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1646571" eaLnBrk="1" hangingPunct="1" latinLnBrk="0" marL="6586284" rtl="0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6.jpeg"/><Relationship Id="rId12" Type="http://schemas.openxmlformats.org/officeDocument/2006/relationships/image" Target="../media/image7.jpeg"/><Relationship Id="rId13" Type="http://schemas.openxmlformats.org/officeDocument/2006/relationships/image" Target="../media/image8.jpeg"/><Relationship Id="rId14" Type="http://schemas.openxmlformats.org/officeDocument/2006/relationships/image" Target="../media/image9.jpeg"/><Relationship Id="rId1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12"/>
          <p:cNvSpPr/>
          <p:nvPr/>
        </p:nvSpPr>
        <p:spPr>
          <a:xfrm>
            <a:off x="-1" y="1"/>
            <a:ext cx="16459202" cy="2692060"/>
          </a:xfrm>
          <a:prstGeom prst="rect"/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6" cstate="hqprint"/>
          <a:stretch>
            <a:fillRect/>
          </a:stretch>
        </p:blipFill>
        <p:spPr>
          <a:xfrm>
            <a:off x="243443" y="213958"/>
            <a:ext cx="15952717" cy="2290531"/>
          </a:xfrm>
          <a:prstGeom prst="rect"/>
        </p:spPr>
      </p:pic>
      <p:sp>
        <p:nvSpPr>
          <p:cNvPr id="1048587" name="Rectangle 31"/>
          <p:cNvSpPr/>
          <p:nvPr/>
        </p:nvSpPr>
        <p:spPr>
          <a:xfrm>
            <a:off x="0" y="12271864"/>
            <a:ext cx="8257345" cy="2919040"/>
          </a:xfrm>
          <a:prstGeom prst="rect"/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Rectangle 3"/>
          <p:cNvSpPr/>
          <p:nvPr/>
        </p:nvSpPr>
        <p:spPr>
          <a:xfrm>
            <a:off x="-3" y="3495088"/>
            <a:ext cx="8257345" cy="2919040"/>
          </a:xfrm>
          <a:prstGeom prst="rect"/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Rectangle 18"/>
          <p:cNvSpPr/>
          <p:nvPr/>
        </p:nvSpPr>
        <p:spPr>
          <a:xfrm>
            <a:off x="204110" y="3579258"/>
            <a:ext cx="3261014" cy="553998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0" name="Rectangle 9"/>
          <p:cNvSpPr/>
          <p:nvPr/>
        </p:nvSpPr>
        <p:spPr>
          <a:xfrm>
            <a:off x="-1" y="2719578"/>
            <a:ext cx="8253178" cy="802627"/>
          </a:xfrm>
          <a:prstGeom prst="rect"/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Rectangle 22"/>
          <p:cNvSpPr/>
          <p:nvPr/>
        </p:nvSpPr>
        <p:spPr>
          <a:xfrm>
            <a:off x="179529" y="12370856"/>
            <a:ext cx="5908962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2" name="TextBox 14"/>
          <p:cNvSpPr txBox="1"/>
          <p:nvPr/>
        </p:nvSpPr>
        <p:spPr>
          <a:xfrm>
            <a:off x="374075" y="2693072"/>
            <a:ext cx="7554555" cy="707886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</a:t>
            </a:r>
            <a:r>
              <a:rPr b="1" dirty="0" sz="20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SVM for Identifying Network Flooding Attacks</a:t>
            </a:r>
          </a:p>
        </p:txBody>
      </p:sp>
      <p:sp>
        <p:nvSpPr>
          <p:cNvPr id="1048593" name="TextBox 15"/>
          <p:cNvSpPr txBox="1"/>
          <p:nvPr/>
        </p:nvSpPr>
        <p:spPr>
          <a:xfrm>
            <a:off x="8441043" y="1470940"/>
            <a:ext cx="7623306" cy="1196340"/>
          </a:xfrm>
          <a:prstGeom prst="rect"/>
          <a:noFill/>
        </p:spPr>
        <p:txBody>
          <a:bodyPr rtlCol="0" wrap="square">
            <a:spAutoFit/>
          </a:bodyPr>
          <a:p>
            <a:pPr algn="r"/>
            <a:r>
              <a:rPr b="1" dirty="0" sz="25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</a:t>
            </a:r>
            <a:r>
              <a:rPr b="1" dirty="0" sz="2500" i="0" lang="en-US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192211826</a:t>
            </a:r>
            <a:endParaRPr b="1" dirty="0" sz="2500"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b="1" dirty="0" sz="25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R K Sachin</a:t>
            </a:r>
          </a:p>
          <a:p>
            <a:pPr algn="r"/>
            <a:r>
              <a:rPr b="1" dirty="0" sz="2500"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  <a:r>
              <a:rPr b="1" dirty="0" sz="2500" i="0" lang="en-IN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b="1" dirty="0" sz="2500" i="0" lang="en-IN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z="2500"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 Karthik Raja</a:t>
            </a:r>
          </a:p>
        </p:txBody>
      </p:sp>
      <p:sp>
        <p:nvSpPr>
          <p:cNvPr id="1048594" name="Rectangle 29"/>
          <p:cNvSpPr/>
          <p:nvPr/>
        </p:nvSpPr>
        <p:spPr>
          <a:xfrm>
            <a:off x="-14972" y="6433394"/>
            <a:ext cx="8257345" cy="2919040"/>
          </a:xfrm>
          <a:prstGeom prst="rect"/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Rectangle 32"/>
          <p:cNvSpPr/>
          <p:nvPr/>
        </p:nvSpPr>
        <p:spPr>
          <a:xfrm>
            <a:off x="14204" y="14778836"/>
            <a:ext cx="8257345" cy="2919040"/>
          </a:xfrm>
          <a:prstGeom prst="rect"/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Rectangle 33"/>
          <p:cNvSpPr/>
          <p:nvPr/>
        </p:nvSpPr>
        <p:spPr>
          <a:xfrm>
            <a:off x="20212" y="18711686"/>
            <a:ext cx="8257345" cy="2919040"/>
          </a:xfrm>
          <a:prstGeom prst="rect"/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7" name="Rectangle 34"/>
          <p:cNvSpPr/>
          <p:nvPr/>
        </p:nvSpPr>
        <p:spPr>
          <a:xfrm>
            <a:off x="14207" y="17936177"/>
            <a:ext cx="8238970" cy="775510"/>
          </a:xfrm>
          <a:prstGeom prst="rect"/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8" name="TextBox 39"/>
          <p:cNvSpPr txBox="1"/>
          <p:nvPr/>
        </p:nvSpPr>
        <p:spPr>
          <a:xfrm>
            <a:off x="497292" y="17909670"/>
            <a:ext cx="7761346" cy="707886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Botnet-Based Traffic Anomalies Using </a:t>
            </a:r>
            <a:r>
              <a:rPr b="1" dirty="0" sz="20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</a:t>
            </a:r>
          </a:p>
        </p:txBody>
      </p:sp>
      <p:sp>
        <p:nvSpPr>
          <p:cNvPr id="1048599" name="Rectangle 40"/>
          <p:cNvSpPr/>
          <p:nvPr/>
        </p:nvSpPr>
        <p:spPr>
          <a:xfrm>
            <a:off x="20212" y="21614589"/>
            <a:ext cx="8257345" cy="2919040"/>
          </a:xfrm>
          <a:prstGeom prst="rect"/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0" name="Rectangle 41"/>
          <p:cNvSpPr/>
          <p:nvPr/>
        </p:nvSpPr>
        <p:spPr>
          <a:xfrm>
            <a:off x="20212" y="24557902"/>
            <a:ext cx="8257345" cy="2919040"/>
          </a:xfrm>
          <a:prstGeom prst="rect"/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1" name="Rectangle 42"/>
          <p:cNvSpPr/>
          <p:nvPr/>
        </p:nvSpPr>
        <p:spPr>
          <a:xfrm>
            <a:off x="20212" y="27446123"/>
            <a:ext cx="8257345" cy="2919040"/>
          </a:xfrm>
          <a:prstGeom prst="rect"/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Rectangle 43"/>
          <p:cNvSpPr/>
          <p:nvPr/>
        </p:nvSpPr>
        <p:spPr>
          <a:xfrm>
            <a:off x="22679" y="30024605"/>
            <a:ext cx="8257345" cy="2919040"/>
          </a:xfrm>
          <a:prstGeom prst="rect"/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603" name="Rectangle 19"/>
          <p:cNvSpPr/>
          <p:nvPr/>
        </p:nvSpPr>
        <p:spPr>
          <a:xfrm>
            <a:off x="208209" y="6670019"/>
            <a:ext cx="5185062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4" name="Rectangle 23"/>
          <p:cNvSpPr/>
          <p:nvPr/>
        </p:nvSpPr>
        <p:spPr>
          <a:xfrm>
            <a:off x="208209" y="14961318"/>
            <a:ext cx="3022889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Rectangle 44"/>
          <p:cNvSpPr/>
          <p:nvPr/>
        </p:nvSpPr>
        <p:spPr>
          <a:xfrm>
            <a:off x="224658" y="18913893"/>
            <a:ext cx="3261014" cy="553998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6" name="Rectangle 45"/>
          <p:cNvSpPr/>
          <p:nvPr/>
        </p:nvSpPr>
        <p:spPr>
          <a:xfrm>
            <a:off x="224659" y="24654199"/>
            <a:ext cx="1879890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7" name="Rectangle 46"/>
          <p:cNvSpPr/>
          <p:nvPr/>
        </p:nvSpPr>
        <p:spPr>
          <a:xfrm>
            <a:off x="132408" y="27573239"/>
            <a:ext cx="5908962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8" name="Rectangle 50"/>
          <p:cNvSpPr/>
          <p:nvPr/>
        </p:nvSpPr>
        <p:spPr>
          <a:xfrm>
            <a:off x="208209" y="21821076"/>
            <a:ext cx="5185062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9" name="Rectangle 52"/>
          <p:cNvSpPr/>
          <p:nvPr/>
        </p:nvSpPr>
        <p:spPr>
          <a:xfrm>
            <a:off x="188479" y="30127961"/>
            <a:ext cx="3022889" cy="474404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0" name="Rectangle 65"/>
          <p:cNvSpPr/>
          <p:nvPr/>
        </p:nvSpPr>
        <p:spPr>
          <a:xfrm>
            <a:off x="8465554" y="12240655"/>
            <a:ext cx="8038263" cy="2919040"/>
          </a:xfrm>
          <a:prstGeom prst="rect"/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1" name="Rectangle 66"/>
          <p:cNvSpPr/>
          <p:nvPr/>
        </p:nvSpPr>
        <p:spPr>
          <a:xfrm>
            <a:off x="8445207" y="9352434"/>
            <a:ext cx="8038263" cy="2919040"/>
          </a:xfrm>
          <a:prstGeom prst="rect"/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2" name="Rectangle 67"/>
          <p:cNvSpPr/>
          <p:nvPr/>
        </p:nvSpPr>
        <p:spPr>
          <a:xfrm>
            <a:off x="8449374" y="3506218"/>
            <a:ext cx="8038263" cy="2919040"/>
          </a:xfrm>
          <a:prstGeom prst="rect"/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3" name="Rectangle 68"/>
          <p:cNvSpPr/>
          <p:nvPr/>
        </p:nvSpPr>
        <p:spPr>
          <a:xfrm>
            <a:off x="8449373" y="6409121"/>
            <a:ext cx="8038263" cy="2919040"/>
          </a:xfrm>
          <a:prstGeom prst="rect"/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4" name="Rectangle 69"/>
          <p:cNvSpPr/>
          <p:nvPr/>
        </p:nvSpPr>
        <p:spPr>
          <a:xfrm>
            <a:off x="8478976" y="14752417"/>
            <a:ext cx="8038263" cy="2919040"/>
          </a:xfrm>
          <a:prstGeom prst="rect"/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Rectangle 70"/>
          <p:cNvSpPr/>
          <p:nvPr/>
        </p:nvSpPr>
        <p:spPr>
          <a:xfrm>
            <a:off x="8469589" y="18722816"/>
            <a:ext cx="8038263" cy="2919040"/>
          </a:xfrm>
          <a:prstGeom prst="rect"/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6" name="Rectangle 71"/>
          <p:cNvSpPr/>
          <p:nvPr/>
        </p:nvSpPr>
        <p:spPr>
          <a:xfrm>
            <a:off x="8469589" y="21625719"/>
            <a:ext cx="8038263" cy="2919040"/>
          </a:xfrm>
          <a:prstGeom prst="rect"/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7" name="Rectangle 72"/>
          <p:cNvSpPr/>
          <p:nvPr/>
        </p:nvSpPr>
        <p:spPr>
          <a:xfrm>
            <a:off x="8469589" y="24569032"/>
            <a:ext cx="8038263" cy="2919040"/>
          </a:xfrm>
          <a:prstGeom prst="rect"/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8" name="Rectangle 73"/>
          <p:cNvSpPr/>
          <p:nvPr/>
        </p:nvSpPr>
        <p:spPr>
          <a:xfrm>
            <a:off x="8469589" y="27457253"/>
            <a:ext cx="8038263" cy="2919040"/>
          </a:xfrm>
          <a:prstGeom prst="rect"/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9" name="Rectangle 74"/>
          <p:cNvSpPr/>
          <p:nvPr/>
        </p:nvSpPr>
        <p:spPr>
          <a:xfrm>
            <a:off x="8469589" y="30006564"/>
            <a:ext cx="8038263" cy="2919040"/>
          </a:xfrm>
          <a:prstGeom prst="rect"/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0" name="Rectangle 76"/>
          <p:cNvSpPr/>
          <p:nvPr/>
        </p:nvSpPr>
        <p:spPr>
          <a:xfrm>
            <a:off x="8445208" y="2691614"/>
            <a:ext cx="8048211" cy="802627"/>
          </a:xfrm>
          <a:prstGeom prst="rect"/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1" name="TextBox 77"/>
          <p:cNvSpPr txBox="1"/>
          <p:nvPr/>
        </p:nvSpPr>
        <p:spPr>
          <a:xfrm>
            <a:off x="8697593" y="2777415"/>
            <a:ext cx="7554555" cy="707886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Evaluating </a:t>
            </a:r>
            <a:r>
              <a:rPr b="1" dirty="0" sz="20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Decision Tree Models for Large-Scale Cyber Intrusion Detection</a:t>
            </a:r>
          </a:p>
        </p:txBody>
      </p:sp>
      <p:sp>
        <p:nvSpPr>
          <p:cNvPr id="1048622" name="Rectangle 78"/>
          <p:cNvSpPr/>
          <p:nvPr/>
        </p:nvSpPr>
        <p:spPr>
          <a:xfrm>
            <a:off x="8445207" y="17936177"/>
            <a:ext cx="8038263" cy="775510"/>
          </a:xfrm>
          <a:prstGeom prst="rect"/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3" name="TextBox 79"/>
          <p:cNvSpPr txBox="1"/>
          <p:nvPr/>
        </p:nvSpPr>
        <p:spPr>
          <a:xfrm>
            <a:off x="8538755" y="17995643"/>
            <a:ext cx="7761346" cy="707886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for Preventing Massive Service Disruptions: </a:t>
            </a:r>
            <a:r>
              <a:rPr b="1" dirty="0" sz="20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vs. LSTM</a:t>
            </a:r>
          </a:p>
        </p:txBody>
      </p:sp>
      <p:sp>
        <p:nvSpPr>
          <p:cNvPr id="1048624" name="Rectangle 81"/>
          <p:cNvSpPr/>
          <p:nvPr/>
        </p:nvSpPr>
        <p:spPr>
          <a:xfrm>
            <a:off x="8635842" y="18798795"/>
            <a:ext cx="3261014" cy="553998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Rectangle 82"/>
          <p:cNvSpPr/>
          <p:nvPr/>
        </p:nvSpPr>
        <p:spPr>
          <a:xfrm>
            <a:off x="8635842" y="24664905"/>
            <a:ext cx="1879890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Rectangle 83"/>
          <p:cNvSpPr/>
          <p:nvPr/>
        </p:nvSpPr>
        <p:spPr>
          <a:xfrm>
            <a:off x="8635842" y="27553126"/>
            <a:ext cx="5908962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7" name="Rectangle 87"/>
          <p:cNvSpPr/>
          <p:nvPr/>
        </p:nvSpPr>
        <p:spPr>
          <a:xfrm>
            <a:off x="8568485" y="21808586"/>
            <a:ext cx="5185062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8" name="Rectangle 89"/>
          <p:cNvSpPr/>
          <p:nvPr/>
        </p:nvSpPr>
        <p:spPr>
          <a:xfrm>
            <a:off x="8659625" y="30166609"/>
            <a:ext cx="3022889" cy="474404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9" name="Rectangle 90"/>
          <p:cNvSpPr/>
          <p:nvPr/>
        </p:nvSpPr>
        <p:spPr>
          <a:xfrm>
            <a:off x="8635842" y="3564227"/>
            <a:ext cx="3261014" cy="553998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0" name="Rectangle 91"/>
          <p:cNvSpPr/>
          <p:nvPr/>
        </p:nvSpPr>
        <p:spPr>
          <a:xfrm>
            <a:off x="8568485" y="9437467"/>
            <a:ext cx="1879890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1" name="Rectangle 92"/>
          <p:cNvSpPr/>
          <p:nvPr/>
        </p:nvSpPr>
        <p:spPr>
          <a:xfrm>
            <a:off x="8645647" y="12394952"/>
            <a:ext cx="5908962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2" name="TextBox 94"/>
          <p:cNvSpPr txBox="1"/>
          <p:nvPr/>
        </p:nvSpPr>
        <p:spPr>
          <a:xfrm>
            <a:off x="11939444" y="6787573"/>
            <a:ext cx="5373967" cy="400238"/>
          </a:xfrm>
          <a:prstGeom prst="rect"/>
          <a:noFill/>
        </p:spPr>
        <p:txBody>
          <a:bodyPr rtlCol="0" wrap="square">
            <a:spAutoFit/>
          </a:bodyPr>
          <a:p>
            <a:pPr indent="-343043" marL="343043">
              <a:buFont typeface="Wingdings" panose="05000000000000000000" pitchFamily="2" charset="2"/>
              <a:buChar char="Ø"/>
            </a:pPr>
            <a:r>
              <a:rPr b="1" dirty="0" sz="200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Text here</a:t>
            </a:r>
            <a:endParaRPr b="1" dirty="0" sz="2001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3" name="Rectangle 96"/>
          <p:cNvSpPr/>
          <p:nvPr/>
        </p:nvSpPr>
        <p:spPr>
          <a:xfrm>
            <a:off x="8635842" y="6698103"/>
            <a:ext cx="5185062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4" name="Rectangle 98"/>
          <p:cNvSpPr/>
          <p:nvPr/>
        </p:nvSpPr>
        <p:spPr>
          <a:xfrm>
            <a:off x="8659625" y="14913904"/>
            <a:ext cx="3022889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5" name="Rectangle 10"/>
          <p:cNvSpPr>
            <a:spLocks noChangeArrowheads="1"/>
          </p:cNvSpPr>
          <p:nvPr/>
        </p:nvSpPr>
        <p:spPr bwMode="auto">
          <a:xfrm>
            <a:off x="0" y="-17907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6" name="Rectangle 11"/>
          <p:cNvSpPr>
            <a:spLocks noChangeArrowheads="1"/>
          </p:cNvSpPr>
          <p:nvPr/>
        </p:nvSpPr>
        <p:spPr bwMode="auto">
          <a:xfrm>
            <a:off x="0" y="-17907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7" name="Rectangle 14"/>
          <p:cNvSpPr>
            <a:spLocks noChangeArrowheads="1"/>
          </p:cNvSpPr>
          <p:nvPr/>
        </p:nvSpPr>
        <p:spPr bwMode="auto">
          <a:xfrm>
            <a:off x="0" y="-17907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8" name="Rectangle 15"/>
          <p:cNvSpPr>
            <a:spLocks noChangeArrowheads="1"/>
          </p:cNvSpPr>
          <p:nvPr/>
        </p:nvSpPr>
        <p:spPr bwMode="auto">
          <a:xfrm>
            <a:off x="0" y="-17907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9" name="Rectangle 16"/>
          <p:cNvSpPr>
            <a:spLocks noChangeArrowheads="1"/>
          </p:cNvSpPr>
          <p:nvPr/>
        </p:nvSpPr>
        <p:spPr bwMode="auto">
          <a:xfrm>
            <a:off x="0" y="-17907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0" name="Rectangle 17"/>
          <p:cNvSpPr>
            <a:spLocks noChangeArrowheads="1"/>
          </p:cNvSpPr>
          <p:nvPr/>
        </p:nvSpPr>
        <p:spPr bwMode="auto">
          <a:xfrm>
            <a:off x="0" y="-17907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1" name="Rectangle 18"/>
          <p:cNvSpPr>
            <a:spLocks noChangeArrowheads="1"/>
          </p:cNvSpPr>
          <p:nvPr/>
        </p:nvSpPr>
        <p:spPr bwMode="auto">
          <a:xfrm>
            <a:off x="0" y="-17907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2" name="Rectangle 19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1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3" name="TextBox 80"/>
          <p:cNvSpPr txBox="1"/>
          <p:nvPr/>
        </p:nvSpPr>
        <p:spPr>
          <a:xfrm>
            <a:off x="16064349" y="1767840"/>
            <a:ext cx="577731" cy="369332"/>
          </a:xfrm>
          <a:prstGeom prst="rect"/>
          <a:noFill/>
        </p:spPr>
        <p:txBody>
          <a:bodyPr rtlCol="0" wrap="square">
            <a:spAutoFit/>
          </a:bodyPr>
          <a:p>
            <a:endParaRPr b="1"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4" name="TextBox 8"/>
          <p:cNvSpPr txBox="1"/>
          <p:nvPr/>
        </p:nvSpPr>
        <p:spPr>
          <a:xfrm>
            <a:off x="243443" y="4297715"/>
            <a:ext cx="7766384" cy="369332"/>
          </a:xfrm>
          <a:prstGeom prst="rect"/>
          <a:noFill/>
        </p:spPr>
        <p:txBody>
          <a:bodyPr rtlCol="0" wrap="square">
            <a:spAutoFit/>
          </a:bodyPr>
          <a:p>
            <a:endParaRPr b="1"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5" name="Rectangle 2"/>
          <p:cNvSpPr/>
          <p:nvPr/>
        </p:nvSpPr>
        <p:spPr>
          <a:xfrm>
            <a:off x="204110" y="9321098"/>
            <a:ext cx="8038263" cy="2919040"/>
          </a:xfrm>
          <a:prstGeom prst="rect"/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6" name="Rectangle 5"/>
          <p:cNvSpPr/>
          <p:nvPr/>
        </p:nvSpPr>
        <p:spPr>
          <a:xfrm>
            <a:off x="22679" y="9328161"/>
            <a:ext cx="8257345" cy="2919040"/>
          </a:xfrm>
          <a:prstGeom prst="rect"/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b="1" dirty="0" sz="1798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7" name="Rectangle 6"/>
          <p:cNvSpPr/>
          <p:nvPr/>
        </p:nvSpPr>
        <p:spPr>
          <a:xfrm>
            <a:off x="183763" y="9429899"/>
            <a:ext cx="1879890" cy="554000"/>
          </a:xfrm>
          <a:prstGeom prst="rect"/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r>
              <a:rPr b="1" dirty="0" sz="2799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b="1" dirty="0" sz="2799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8" name="TextBox 7"/>
          <p:cNvSpPr txBox="1"/>
          <p:nvPr/>
        </p:nvSpPr>
        <p:spPr>
          <a:xfrm>
            <a:off x="132407" y="4218706"/>
            <a:ext cx="6416960" cy="2326640"/>
          </a:xfrm>
          <a:prstGeom prst="rect"/>
          <a:noFill/>
        </p:spPr>
        <p:txBody>
          <a:bodyPr rtlCol="0" wrap="square"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flooding attacks, such as Distributed Denial of Service (DDoS), pose a serious threat to network availability and reliability.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such attacks promptly and accurately is essential to maintaining secure and uninterrupted network operations.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 (SVM) are powerful classification models known for their robustness in high-dimensional spaces and effectiveness in binary classification tasks.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scalable and efficient gradient boosting algorithm, offers strong predictive performance and is well-suited for handling complex, large-scale datasets.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endParaRPr dirty="0" sz="1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9" name="TextBox 10"/>
          <p:cNvSpPr txBox="1"/>
          <p:nvPr/>
        </p:nvSpPr>
        <p:spPr>
          <a:xfrm>
            <a:off x="8479342" y="4080069"/>
            <a:ext cx="6241572" cy="2733040"/>
          </a:xfrm>
          <a:prstGeom prst="rect"/>
          <a:noFill/>
        </p:spPr>
        <p:txBody>
          <a:bodyPr rtlCol="0" wrap="square">
            <a:spAutoFit/>
          </a:bodyPr>
          <a:p>
            <a:pPr algn="just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 intrusion detection is a critical component of cybersecurity, aimed at identifying unauthorized access or malicious activities in network systems.</a:t>
            </a:r>
          </a:p>
          <a:p>
            <a:pPr algn="just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exponential growth in data generated by networks, there is a pressing need for efficient and scalable machine learning models to handle large-scale intrusion detection tasks.</a:t>
            </a:r>
          </a:p>
          <a:p>
            <a:pPr algn="just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widely used for their simplicity, interpretability, and relatively low computational cost, making them suitable for real-time detection scenarios.</a:t>
            </a:r>
          </a:p>
          <a:p>
            <a:pPr algn="just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 optimized gradient boosting framework, has gained popularity due to its superior performance, speed, and ability to handle high-dimensional data efficiently.</a:t>
            </a:r>
          </a:p>
          <a:p>
            <a:pPr algn="just" indent="-285750" marL="285750">
              <a:buFont typeface="Wingdings" panose="05000000000000000000" pitchFamily="2" charset="2"/>
              <a:buChar char="Ø"/>
            </a:pPr>
            <a:endParaRPr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0" name="TextBox 11"/>
          <p:cNvSpPr txBox="1"/>
          <p:nvPr/>
        </p:nvSpPr>
        <p:spPr>
          <a:xfrm>
            <a:off x="257522" y="19515146"/>
            <a:ext cx="6324708" cy="2326637"/>
          </a:xfrm>
          <a:prstGeom prst="rect"/>
          <a:noFill/>
        </p:spPr>
        <p:txBody>
          <a:bodyPr rtlCol="0" wrap="square"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Botnet-based attacks are among the most serious threats in cyberspace, involving large networks of compromised devices orchestrated to launch malicious activities.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anomalies in network traffic is essential to identify botnet behaviors before they escalate into full-scale attacks.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have shown strong potential in identifying subtle and complex patterns in network traffic that are indicative of botnet activity.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an ensemble learning method based on decision trees, is known for its robustness, accuracy, and resistance to overfitting.</a:t>
            </a:r>
          </a:p>
          <a:p>
            <a:endParaRPr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1" name="TextBox 13"/>
          <p:cNvSpPr txBox="1"/>
          <p:nvPr/>
        </p:nvSpPr>
        <p:spPr>
          <a:xfrm>
            <a:off x="8441043" y="19390173"/>
            <a:ext cx="6362661" cy="2123441"/>
          </a:xfrm>
          <a:prstGeom prst="rect"/>
          <a:noFill/>
        </p:spPr>
        <p:txBody>
          <a:bodyPr rtlCol="0" wrap="square"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Massive service disruptions in digital infrastructure can result from cyberattacks, system failures, or unexpected traffic spikes, leading to significant economic and reputational damage.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using machine learning plays a key role in anticipating such disruptions before they occur, enabling proactive mitigation.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high-performance gradient boosting algorithm, effective in handling structured data and delivering fast, accurate predictions.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(LSTM) networks, a type of recurrent neural network, excel in learning from sequential data, making them suitable for modeling time-series patterns in system behavior.</a:t>
            </a:r>
          </a:p>
        </p:txBody>
      </p:sp>
      <p:cxnSp>
        <p:nvCxnSpPr>
          <p:cNvPr id="3145728" name="Straight Connector 75"/>
          <p:cNvCxnSpPr>
            <a:cxnSpLocks/>
          </p:cNvCxnSpPr>
          <p:nvPr/>
        </p:nvCxnSpPr>
        <p:spPr>
          <a:xfrm flipV="1">
            <a:off x="1485310" y="8106539"/>
            <a:ext cx="349200" cy="7744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Straight Connector 86"/>
          <p:cNvCxnSpPr>
            <a:cxnSpLocks/>
          </p:cNvCxnSpPr>
          <p:nvPr/>
        </p:nvCxnSpPr>
        <p:spPr>
          <a:xfrm flipV="1">
            <a:off x="3283768" y="8102410"/>
            <a:ext cx="272216" cy="4129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Straight Connector 99"/>
          <p:cNvCxnSpPr>
            <a:cxnSpLocks/>
          </p:cNvCxnSpPr>
          <p:nvPr/>
        </p:nvCxnSpPr>
        <p:spPr>
          <a:xfrm>
            <a:off x="5167407" y="8102410"/>
            <a:ext cx="223720" cy="4347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Straight Connector 102"/>
          <p:cNvCxnSpPr>
            <a:cxnSpLocks/>
          </p:cNvCxnSpPr>
          <p:nvPr/>
        </p:nvCxnSpPr>
        <p:spPr>
          <a:xfrm>
            <a:off x="6549367" y="8106757"/>
            <a:ext cx="267791" cy="1046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2" name="TextBox 1032"/>
          <p:cNvSpPr txBox="1"/>
          <p:nvPr/>
        </p:nvSpPr>
        <p:spPr>
          <a:xfrm>
            <a:off x="11449885" y="22516576"/>
            <a:ext cx="1605622" cy="52322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400"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4304" name="Table 21"/>
          <p:cNvGraphicFramePr>
            <a:graphicFrameLocks noGrp="1"/>
          </p:cNvGraphicFramePr>
          <p:nvPr/>
        </p:nvGraphicFramePr>
        <p:xfrm>
          <a:off x="204110" y="10150337"/>
          <a:ext cx="4615203" cy="14418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6561"/>
                <a:gridCol w="712229"/>
                <a:gridCol w="596733"/>
                <a:gridCol w="837060"/>
                <a:gridCol w="856310"/>
                <a:gridCol w="856310"/>
              </a:tblGrid>
              <a:tr h="275650">
                <a:tc gridSpan="6"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b="1" dirty="0" sz="1100" kern="100" lang="en-IN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Statistics</a:t>
                      </a:r>
                      <a:endParaRPr b="1" dirty="0" sz="1100" kern="100" lang="en-IN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</a:tr>
              <a:tr h="468605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68605">
                <a:tc rowSpan="2"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XG-BOOST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97.1000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1.44914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.45826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29001">
                <a:tc vMerge="1">
                  <a:txBody>
                    <a:bodyPr/>
                    <a:p>
                      <a:endParaRPr lang="en-IN"/>
                    </a:p>
                  </a:txBody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86.8000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.25093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.71181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1048653" name="TextBox 123"/>
          <p:cNvSpPr txBox="1"/>
          <p:nvPr/>
        </p:nvSpPr>
        <p:spPr>
          <a:xfrm>
            <a:off x="5062878" y="11540284"/>
            <a:ext cx="2928166" cy="46166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2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1: Accuracy comparison of the </a:t>
            </a:r>
            <a:r>
              <a:rPr b="1" dirty="0" sz="1200" lang="en-US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2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Support Vector Machine </a:t>
            </a:r>
            <a:endParaRPr b="1" dirty="0" sz="1200" lang="en-IN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4" name="TextBox 124"/>
          <p:cNvSpPr txBox="1"/>
          <p:nvPr/>
        </p:nvSpPr>
        <p:spPr>
          <a:xfrm>
            <a:off x="224659" y="11709544"/>
            <a:ext cx="4590409" cy="64633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z="12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1: </a:t>
            </a:r>
            <a:r>
              <a:rPr b="1" dirty="0" sz="1200"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 comparison table </a:t>
            </a:r>
            <a:r>
              <a:rPr b="1" dirty="0" sz="1200" lang="en-IN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200"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Support Vector Machine</a:t>
            </a:r>
            <a:endParaRPr b="1"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b="1" dirty="0" sz="12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4305" name="Table 125"/>
          <p:cNvGraphicFramePr>
            <a:graphicFrameLocks noGrp="1"/>
          </p:cNvGraphicFramePr>
          <p:nvPr/>
        </p:nvGraphicFramePr>
        <p:xfrm>
          <a:off x="8635842" y="25292212"/>
          <a:ext cx="4615203" cy="17578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6561"/>
                <a:gridCol w="712229"/>
                <a:gridCol w="596733"/>
                <a:gridCol w="837060"/>
                <a:gridCol w="856310"/>
                <a:gridCol w="856310"/>
              </a:tblGrid>
              <a:tr h="275650">
                <a:tc gridSpan="6"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b="1" dirty="0" sz="1100" kern="100" lang="en-IN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Statistics</a:t>
                      </a:r>
                      <a:endParaRPr b="1" dirty="0" sz="1100" kern="100" lang="en-IN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</a:tr>
              <a:tr h="468605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68605">
                <a:tc rowSpan="2"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XG-BOOST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97.1000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1.44914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.45826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544963">
                <a:tc vMerge="1">
                  <a:txBody>
                    <a:bodyPr/>
                    <a:p>
                      <a:endParaRPr lang="en-IN"/>
                    </a:p>
                  </a:txBody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85.9000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.33095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73711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6" name="Table 126"/>
          <p:cNvGraphicFramePr>
            <a:graphicFrameLocks noGrp="1"/>
          </p:cNvGraphicFramePr>
          <p:nvPr/>
        </p:nvGraphicFramePr>
        <p:xfrm>
          <a:off x="224659" y="25281082"/>
          <a:ext cx="4626822" cy="1711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8466"/>
                <a:gridCol w="714022"/>
                <a:gridCol w="598235"/>
                <a:gridCol w="839167"/>
                <a:gridCol w="858466"/>
                <a:gridCol w="858466"/>
              </a:tblGrid>
              <a:tr h="275650">
                <a:tc gridSpan="6"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b="1" dirty="0" sz="1100" kern="100" lang="en-IN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Statistics</a:t>
                      </a:r>
                      <a:endParaRPr b="1" dirty="0" sz="1100" kern="100" lang="en-IN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</a:tr>
              <a:tr h="468605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68605">
                <a:tc rowSpan="2"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XG-BOOST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97.1000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1.44914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.45826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498220">
                <a:tc vMerge="1">
                  <a:txBody>
                    <a:bodyPr/>
                    <a:p>
                      <a:endParaRPr lang="en-IN"/>
                    </a:p>
                  </a:txBody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86.9000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.9513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.50442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7" name="Table 1023"/>
          <p:cNvGraphicFramePr>
            <a:graphicFrameLocks noGrp="1"/>
          </p:cNvGraphicFramePr>
          <p:nvPr/>
        </p:nvGraphicFramePr>
        <p:xfrm>
          <a:off x="8568485" y="10132645"/>
          <a:ext cx="4615203" cy="16851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6561"/>
                <a:gridCol w="712229"/>
                <a:gridCol w="596733"/>
                <a:gridCol w="837060"/>
                <a:gridCol w="856310"/>
                <a:gridCol w="856310"/>
              </a:tblGrid>
              <a:tr h="275650">
                <a:tc gridSpan="6"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b="1" dirty="0" sz="1100" kern="100" lang="en-IN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Statistics</a:t>
                      </a:r>
                      <a:endParaRPr b="1" dirty="0" sz="1100" kern="100" lang="en-IN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  <a:tc hMerge="1">
                  <a:txBody>
                    <a:bodyPr/>
                    <a:p>
                      <a:endParaRPr lang="en-IN"/>
                    </a:p>
                  </a:txBody>
                </a:tc>
              </a:tr>
              <a:tr h="468605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68605">
                <a:tc rowSpan="2"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XG-BOOST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97.1000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1.44914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.45826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472247">
                <a:tc vMerge="1">
                  <a:txBody>
                    <a:bodyPr/>
                    <a:p>
                      <a:endParaRPr lang="en-IN"/>
                    </a:p>
                  </a:txBody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Decision Tree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US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82.3000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1.88856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dirty="0" sz="1100" kern="100"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.59722</a:t>
                      </a:r>
                      <a:endParaRPr dirty="0" sz="1100" kern="100" lang="en-IN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1048655" name="TextBox 1041"/>
          <p:cNvSpPr txBox="1"/>
          <p:nvPr/>
        </p:nvSpPr>
        <p:spPr>
          <a:xfrm>
            <a:off x="8407556" y="11931295"/>
            <a:ext cx="5103145" cy="46166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z="12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1: </a:t>
            </a:r>
            <a:r>
              <a:rPr b="1" dirty="0" sz="1200"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 comparison table </a:t>
            </a:r>
            <a:r>
              <a:rPr b="1" dirty="0" sz="1200" lang="en-IN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200"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Decision tree</a:t>
            </a:r>
            <a:endParaRPr b="1"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b="1" dirty="0" sz="12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6" name="TextBox 1043"/>
          <p:cNvSpPr txBox="1"/>
          <p:nvPr/>
        </p:nvSpPr>
        <p:spPr>
          <a:xfrm>
            <a:off x="13348932" y="11623292"/>
            <a:ext cx="2928166" cy="46166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2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1: Accuracy comparison of the </a:t>
            </a:r>
            <a:r>
              <a:rPr b="1" dirty="0" sz="1200" lang="en-US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2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Decision tree. </a:t>
            </a:r>
            <a:endParaRPr b="1" dirty="0" sz="1200" lang="en-IN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7" name="TextBox 1044"/>
          <p:cNvSpPr txBox="1"/>
          <p:nvPr/>
        </p:nvSpPr>
        <p:spPr>
          <a:xfrm>
            <a:off x="5167407" y="26771553"/>
            <a:ext cx="2928166" cy="52322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4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1: Accuracy comparison of the </a:t>
            </a:r>
            <a:r>
              <a:rPr b="1" dirty="0" sz="1400" lang="en-US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4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Random Forest. </a:t>
            </a:r>
            <a:endParaRPr b="1" dirty="0" sz="1400" lang="en-IN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8" name="TextBox 1045"/>
          <p:cNvSpPr txBox="1"/>
          <p:nvPr/>
        </p:nvSpPr>
        <p:spPr>
          <a:xfrm>
            <a:off x="13425048" y="26971315"/>
            <a:ext cx="2928166" cy="52322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4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1: Accuracy comparison of the </a:t>
            </a:r>
            <a:r>
              <a:rPr b="1" dirty="0" sz="1400" lang="en-US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4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LSTM. </a:t>
            </a:r>
            <a:endParaRPr b="1" dirty="0" sz="1400" lang="en-IN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9" name="TextBox 1046"/>
          <p:cNvSpPr txBox="1"/>
          <p:nvPr/>
        </p:nvSpPr>
        <p:spPr>
          <a:xfrm>
            <a:off x="264816" y="26988027"/>
            <a:ext cx="4369221" cy="70103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z="14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1: </a:t>
            </a:r>
            <a:r>
              <a:rPr b="1" dirty="0" sz="1400"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 comparison table </a:t>
            </a:r>
            <a:r>
              <a:rPr b="1" dirty="0" sz="1400" lang="en-IN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400"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Random Forest</a:t>
            </a:r>
            <a:endParaRPr b="1" dirty="0" sz="1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0" name="TextBox 1048"/>
          <p:cNvSpPr txBox="1"/>
          <p:nvPr/>
        </p:nvSpPr>
        <p:spPr>
          <a:xfrm>
            <a:off x="8568485" y="27035880"/>
            <a:ext cx="4765550" cy="52322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z="1400" lang="en-US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1: </a:t>
            </a:r>
            <a:r>
              <a:rPr b="1" dirty="0" sz="1400"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 comparison table </a:t>
            </a:r>
            <a:r>
              <a:rPr b="1" dirty="0" sz="1400" lang="en-IN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400" lang="en-IN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LSTM</a:t>
            </a:r>
            <a:endParaRPr b="1" dirty="0" sz="1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1" name="TextBox 1050"/>
          <p:cNvSpPr txBox="1"/>
          <p:nvPr/>
        </p:nvSpPr>
        <p:spPr>
          <a:xfrm>
            <a:off x="224658" y="13049690"/>
            <a:ext cx="7785169" cy="1513840"/>
          </a:xfrm>
          <a:prstGeom prst="rect"/>
          <a:noFill/>
        </p:spPr>
        <p:txBody>
          <a:bodyPr rtlCol="0" wrap="square">
            <a:spAutoFit/>
          </a:bodyPr>
          <a:p>
            <a:pPr indent="-171450" marL="171450">
              <a:buFont typeface="Wingdings" panose="05000000000000000000" pitchFamily="2" charset="2"/>
              <a:buChar char="Ø"/>
            </a:pPr>
            <a:r>
              <a:rPr altLang="en-IN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Based on  T-test Statistical analysis, the significance value of  p=0.001 (independent sample T - test p&lt;0.05) is obtained and shows that there is a statistical significant difference between the group 1 and group 2.</a:t>
            </a:r>
          </a:p>
          <a:p>
            <a:pPr indent="-171450" marL="171450">
              <a:buFont typeface="Wingdings" panose="05000000000000000000" pitchFamily="2" charset="2"/>
              <a:buChar char="Ø"/>
            </a:pPr>
            <a:r>
              <a:rPr altLang="en-IN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Overall , the accuracy of the </a:t>
            </a:r>
            <a:r>
              <a:rPr altLang="en-IN"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altLang="en-IN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(97.10 %) was better than the Support Vector Machine</a:t>
            </a:r>
          </a:p>
          <a:p>
            <a:pPr indent="-171450" marL="171450">
              <a:buFont typeface="Wingdings" panose="05000000000000000000" pitchFamily="2" charset="2"/>
              <a:buChar char="Ø"/>
            </a:pPr>
            <a:r>
              <a:rPr altLang="en-IN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( 86.80%).</a:t>
            </a:r>
          </a:p>
          <a:p>
            <a:pPr indent="-171450" marL="1714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highlight that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better suited for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tasks and </a:t>
            </a:r>
            <a:r>
              <a:rPr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botnet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2" name="TextBox 1051"/>
          <p:cNvSpPr txBox="1"/>
          <p:nvPr/>
        </p:nvSpPr>
        <p:spPr>
          <a:xfrm>
            <a:off x="8659625" y="12968287"/>
            <a:ext cx="7592523" cy="1717040"/>
          </a:xfrm>
          <a:prstGeom prst="rect"/>
          <a:noFill/>
        </p:spPr>
        <p:txBody>
          <a:bodyPr rtlCol="0" wrap="square">
            <a:spAutoFit/>
          </a:bodyPr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Based on T-test statistical analysis, the significance value was p = 0.001 (p &lt; 0.05), showing a statistically significant difference between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Decision Tree performance.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achieved an accuracy 97.1%, while Decision Tree resulted in a lower accuracy of 82.3 %.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additional features such as app descriptions, usage frequency, and reviews may improve the effectiveness of both supervised and unsupervised models.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include dealing with unlabeled datasets, evolving app behaviors, and optimizing unsupervised methods for better clustering relevance.</a:t>
            </a:r>
          </a:p>
        </p:txBody>
      </p:sp>
      <p:sp>
        <p:nvSpPr>
          <p:cNvPr id="1048663" name="TextBox 1056"/>
          <p:cNvSpPr txBox="1"/>
          <p:nvPr/>
        </p:nvSpPr>
        <p:spPr>
          <a:xfrm>
            <a:off x="152153" y="28373237"/>
            <a:ext cx="7776477" cy="1513837"/>
          </a:xfrm>
          <a:prstGeom prst="rect"/>
          <a:noFill/>
        </p:spPr>
        <p:txBody>
          <a:bodyPr rtlCol="0" wrap="square">
            <a:spAutoFit/>
          </a:bodyPr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Based on T-test statistical analysis, a significance value of p = 0.001 (p &lt; 0.05) was obtained, indicating a statistically significant difference between the performance of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RF.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achieved a higher accuracy of 97.1%, whereas RF recorded an accuracy of 86.9%, showing that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more effective in classifying botnet detection.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could include feature engineering with contextual data for botnet detection It is concluded that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more accurate and robust than RF for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classifying botnet detection .</a:t>
            </a:r>
            <a:endParaRPr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4" name="TextBox 1057"/>
          <p:cNvSpPr txBox="1"/>
          <p:nvPr/>
        </p:nvSpPr>
        <p:spPr>
          <a:xfrm>
            <a:off x="8659626" y="28127239"/>
            <a:ext cx="7404724" cy="1920242"/>
          </a:xfrm>
          <a:prstGeom prst="rect"/>
          <a:noFill/>
        </p:spPr>
        <p:txBody>
          <a:bodyPr rtlCol="0" wrap="square">
            <a:spAutoFit/>
          </a:bodyPr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Based on T-test statistical analysis, a significance value of p = 0.001 (p &lt; 0.05) was obtained, indicating a statistically significant difference between the performance of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LSTM.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achieved a high accuracy of 97.1%, whereas LSTM recorded a lower accuracy of 85.9%.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Enhancing the model with contextual data like app metadata, update frequency, or developer reputation could improve overall risk classification accuracy.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is concluded that </a:t>
            </a:r>
            <a:r>
              <a:rPr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outperforms LSTM in classifying app risks using permission data.</a:t>
            </a:r>
            <a:endParaRPr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5" name="TextBox 1058"/>
          <p:cNvSpPr txBox="1"/>
          <p:nvPr/>
        </p:nvSpPr>
        <p:spPr>
          <a:xfrm>
            <a:off x="254082" y="15560557"/>
            <a:ext cx="7745011" cy="2123441"/>
          </a:xfrm>
          <a:prstGeom prst="rect"/>
          <a:noFill/>
        </p:spPr>
        <p:txBody>
          <a:bodyPr rtlCol="0" wrap="square"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Chen, T., &amp;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(2016). </a:t>
            </a:r>
            <a:r>
              <a:rPr altLang="en-US" baseline="0" b="1" cap="none" dirty="0" sz="1400" i="1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Scalable Tree Boosting System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22nd ACM SIGKDD International Conference on Knowledge Discovery and Data Mining, 785–794.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Cortes, C., &amp;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Vapnik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V. (1995).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Support-vector networks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Machine Learning, 20(3), 273–297.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Moustafa, N., &amp; Slay, J. (2015).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UNSW-NB15: A Comprehensive Data Set for Network Intrusion Detection Systems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Military Communications and Information Systems Conference (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MilCIS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1–6.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Ahmed, M., Mahmood, A. N., &amp; Hu, J. (2016).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survey of network anomaly detection techniques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Network and Computer Applications, 60, 19–31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6" name="TextBox 1063"/>
          <p:cNvSpPr txBox="1"/>
          <p:nvPr/>
        </p:nvSpPr>
        <p:spPr>
          <a:xfrm>
            <a:off x="8568486" y="15560549"/>
            <a:ext cx="7731616" cy="1920242"/>
          </a:xfrm>
          <a:prstGeom prst="rect"/>
          <a:noFill/>
        </p:spPr>
        <p:txBody>
          <a:bodyPr rtlCol="0" wrap="square"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Tavallaee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M., Bagheri, E., Lu, W., &amp; Ghorbani, A. A. (2009).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Detailed Analysis of the KDD CUP 99 Data Set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2009 IEEE Symposium on Computational Intelligence in Security and Defense Applications, 1–6.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Shone, N., Ngoc, T. N., Phai, V. D., &amp; Shi, Q. (2018).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Approach to Network Intrusion Detection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IEEE Transactions on Emerging Topics in Computational Intelligence, 2(1), 41–50.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Tsai, C. F., Hsu, Y. F., Lin, C. Y., &amp; Lin, W. Y. (2009).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by machine learning: A review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Expert Systems with Applications, 36(10), 11994–12000.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Sangkatsanee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Wattanapongsakorn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N., &amp;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Charnsripinyo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(2011</a:t>
            </a:r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45732" name="Straight Connector 1084"/>
          <p:cNvCxnSpPr>
            <a:cxnSpLocks/>
          </p:cNvCxnSpPr>
          <p:nvPr/>
        </p:nvCxnSpPr>
        <p:spPr>
          <a:xfrm>
            <a:off x="9946640" y="8201621"/>
            <a:ext cx="136860" cy="7856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Straight Connector 1086"/>
          <p:cNvCxnSpPr>
            <a:cxnSpLocks/>
          </p:cNvCxnSpPr>
          <p:nvPr/>
        </p:nvCxnSpPr>
        <p:spPr>
          <a:xfrm>
            <a:off x="11699866" y="8209477"/>
            <a:ext cx="150063" cy="12326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Straight Connector 1090"/>
          <p:cNvCxnSpPr>
            <a:cxnSpLocks/>
          </p:cNvCxnSpPr>
          <p:nvPr/>
        </p:nvCxnSpPr>
        <p:spPr>
          <a:xfrm flipV="1">
            <a:off x="13118383" y="8217289"/>
            <a:ext cx="148704" cy="4514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Straight Connector 1092"/>
          <p:cNvCxnSpPr>
            <a:cxnSpLocks/>
          </p:cNvCxnSpPr>
          <p:nvPr/>
        </p:nvCxnSpPr>
        <p:spPr>
          <a:xfrm flipV="1">
            <a:off x="14883453" y="8144642"/>
            <a:ext cx="166827" cy="72647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7" name="TextBox 1080"/>
          <p:cNvSpPr txBox="1"/>
          <p:nvPr/>
        </p:nvSpPr>
        <p:spPr>
          <a:xfrm>
            <a:off x="1118717" y="8958460"/>
            <a:ext cx="6706845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identifying DDOS attack Using </a:t>
            </a:r>
            <a:r>
              <a:rPr b="1"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Support Vector Machine</a:t>
            </a:r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8" name="TextBox 1081"/>
          <p:cNvSpPr txBox="1"/>
          <p:nvPr/>
        </p:nvSpPr>
        <p:spPr>
          <a:xfrm>
            <a:off x="9244107" y="8921456"/>
            <a:ext cx="66898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identifying DDOS attack Using </a:t>
            </a:r>
            <a:r>
              <a:rPr b="1"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Support Decision Tree</a:t>
            </a:r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9" name="TextBox 1082"/>
          <p:cNvSpPr txBox="1"/>
          <p:nvPr/>
        </p:nvSpPr>
        <p:spPr>
          <a:xfrm>
            <a:off x="1015413" y="24211170"/>
            <a:ext cx="6725103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identifying DDOS attack Using </a:t>
            </a:r>
            <a:r>
              <a:rPr b="1"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</a:t>
            </a:r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0" name="TextBox 1083"/>
          <p:cNvSpPr txBox="1"/>
          <p:nvPr/>
        </p:nvSpPr>
        <p:spPr>
          <a:xfrm>
            <a:off x="9575787" y="24204631"/>
            <a:ext cx="6724314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identifying DDOS attack Using </a:t>
            </a:r>
            <a:r>
              <a:rPr b="1" dirty="0" sz="14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b="1" dirty="0" sz="1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LSTM</a:t>
            </a:r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3" name="Picture 1055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rcRect/>
          <a:stretch>
            <a:fillRect/>
          </a:stretch>
        </p:blipFill>
        <p:spPr bwMode="auto">
          <a:xfrm>
            <a:off x="5104856" y="9722553"/>
            <a:ext cx="3030188" cy="1832402"/>
          </a:xfrm>
          <a:prstGeom prst="rect"/>
          <a:noFill/>
          <a:ln>
            <a:noFill/>
          </a:ln>
        </p:spPr>
      </p:pic>
      <p:pic>
        <p:nvPicPr>
          <p:cNvPr id="2097154" name="Picture 1059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rcRect/>
          <a:stretch>
            <a:fillRect/>
          </a:stretch>
        </p:blipFill>
        <p:spPr bwMode="auto">
          <a:xfrm>
            <a:off x="13332690" y="9770596"/>
            <a:ext cx="3042218" cy="1790314"/>
          </a:xfrm>
          <a:prstGeom prst="rect"/>
          <a:noFill/>
          <a:ln>
            <a:noFill/>
          </a:ln>
        </p:spPr>
      </p:pic>
      <p:pic>
        <p:nvPicPr>
          <p:cNvPr id="2097155" name="Picture 1060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rcRect/>
          <a:stretch>
            <a:fillRect/>
          </a:stretch>
        </p:blipFill>
        <p:spPr bwMode="auto">
          <a:xfrm>
            <a:off x="13560725" y="25049558"/>
            <a:ext cx="2739376" cy="1948347"/>
          </a:xfrm>
          <a:prstGeom prst="rect"/>
          <a:noFill/>
          <a:ln>
            <a:noFill/>
          </a:ln>
        </p:spPr>
      </p:pic>
      <p:pic>
        <p:nvPicPr>
          <p:cNvPr id="2097156" name="Picture 1061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rcRect/>
          <a:stretch>
            <a:fillRect/>
          </a:stretch>
        </p:blipFill>
        <p:spPr bwMode="auto">
          <a:xfrm>
            <a:off x="5167407" y="24736554"/>
            <a:ext cx="2959836" cy="1943773"/>
          </a:xfrm>
          <a:prstGeom prst="rect"/>
          <a:noFill/>
          <a:ln>
            <a:noFill/>
          </a:ln>
        </p:spPr>
      </p:pic>
      <p:sp>
        <p:nvSpPr>
          <p:cNvPr id="1048671" name="TextBox 1068"/>
          <p:cNvSpPr txBox="1"/>
          <p:nvPr/>
        </p:nvSpPr>
        <p:spPr>
          <a:xfrm>
            <a:off x="132677" y="30716024"/>
            <a:ext cx="8240896" cy="2326640"/>
          </a:xfrm>
          <a:prstGeom prst="rect"/>
          <a:noFill/>
        </p:spPr>
        <p:txBody>
          <a:bodyPr rtlCol="0" wrap="square"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Haddadi, F., &amp;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Zincir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-Heywood, A. N. (2015).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Botnet Detection Based on Traffic Behavior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2015 IFIP/IEEE International Symposium on Integrated Network Management (IM), 917–920.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Stevanovic, M., &amp; Pedersen, J. M. (2014).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Analysis of Network Traffic Classification for Botnet Detection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2014 International Conference on Computing, Networking and Communications (ICNC), 626–630.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Wang, P., Sparks, S., &amp; Zou, C. (2010).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Advanced Hybrid Peer-to-Peer Botnet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IEEE Transactions on Dependable and Secure Computing, 7(2), 113–127.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Antonakakis, M., April, T., Bailey, M., Bernhard, M.,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Bursztein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E., Cochran, J., ... &amp; Zhao, Y. (2017).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Mirai Botnet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26th USENIX Security Symposium, 1093–1110.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2" name="TextBox 1071"/>
          <p:cNvSpPr txBox="1"/>
          <p:nvPr/>
        </p:nvSpPr>
        <p:spPr>
          <a:xfrm>
            <a:off x="8688072" y="30625618"/>
            <a:ext cx="7517608" cy="2326641"/>
          </a:xfrm>
          <a:prstGeom prst="rect"/>
          <a:noFill/>
        </p:spPr>
        <p:txBody>
          <a:bodyPr rtlCol="0" wrap="square"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Hochreiter, S., &amp;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 (1997).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Neural Computation, 9(8), 1735–1780.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Brownlee, J. (2017).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Time Series Forecasting: Predict the Future with MLPs, CNNs and LSTMs in Python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Machine Learning Mastery.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Laptev, N.,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Yosinski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J., Li, L. E., &amp; Smyl, S. (2017).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Time-series Extreme Event Forecasting with Neural Networks at Uber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Conference on Machine Learning (ICML) Time Series Workshop.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Malhotra, P., </a:t>
            </a:r>
            <a:r>
              <a:rPr altLang="en-US" baseline="0" b="1" cap="none" dirty="0" sz="14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Vig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L., Shroff, G., &amp; Agarwal, P. (2015). </a:t>
            </a:r>
            <a:r>
              <a:rPr altLang="en-US" baseline="0" b="1" cap="none" dirty="0" sz="14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Short Term Memory Networks for Anomaly Detection in Time Series</a:t>
            </a:r>
            <a:r>
              <a:rPr altLang="en-US" baseline="0" b="1" cap="none" dirty="0" sz="14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Proceedings of the European Symposium on Artificial Neural Networks (ESANN), 89–94.</a:t>
            </a:r>
          </a:p>
          <a:p>
            <a:pPr indent="-285750" marL="285750">
              <a:buFont typeface="Wingdings" panose="05000000000000000000" pitchFamily="2" charset="2"/>
              <a:buChar char="Ø"/>
            </a:pPr>
            <a:endParaRPr b="1" dirty="0" sz="1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170;p1"/>
          <p:cNvGrpSpPr/>
          <p:nvPr/>
        </p:nvGrpSpPr>
        <p:grpSpPr>
          <a:xfrm>
            <a:off x="733524" y="7502569"/>
            <a:ext cx="6488549" cy="1264031"/>
            <a:chOff x="989758" y="477089"/>
            <a:chExt cx="6488549" cy="1264031"/>
          </a:xfrm>
        </p:grpSpPr>
        <p:sp>
          <p:nvSpPr>
            <p:cNvPr id="1048673" name="Google Shape;171;p1"/>
            <p:cNvSpPr/>
            <p:nvPr/>
          </p:nvSpPr>
          <p:spPr>
            <a:xfrm>
              <a:off x="6214482" y="477089"/>
              <a:ext cx="1263825" cy="1264031"/>
            </a:xfrm>
            <a:prstGeom prst="ellipse"/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4" name="Google Shape;172;p1"/>
            <p:cNvSpPr/>
            <p:nvPr/>
          </p:nvSpPr>
          <p:spPr>
            <a:xfrm>
              <a:off x="6256184" y="519231"/>
              <a:ext cx="1179749" cy="1179748"/>
            </a:xfrm>
            <a:prstGeom prst="ellipse"/>
            <a:solidFill>
              <a:schemeClr val="lt1">
                <a:alpha val="89803"/>
              </a:schemeClr>
            </a:soli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5" name="Google Shape;173;p1"/>
            <p:cNvSpPr txBox="1"/>
            <p:nvPr/>
          </p:nvSpPr>
          <p:spPr>
            <a:xfrm>
              <a:off x="6425008" y="687798"/>
              <a:ext cx="842774" cy="842614"/>
            </a:xfrm>
            <a:prstGeom prst="rect"/>
            <a:noFill/>
            <a:ln>
              <a:noFill/>
            </a:ln>
          </p:spPr>
          <p:txBody>
            <a:bodyPr anchor="ctr" anchorCtr="0" bIns="13950" lIns="13950" rIns="13950" spcFirstLastPara="1" tIns="1395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Times New Roman"/>
                <a:buNone/>
              </a:pPr>
              <a:r>
                <a:rPr b="1" dirty="0" sz="1100" i="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Evaluate and compare performance</a:t>
              </a:r>
              <a:endParaRPr dirty="0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8676" name="Google Shape;174;p1"/>
            <p:cNvSpPr/>
            <p:nvPr/>
          </p:nvSpPr>
          <p:spPr>
            <a:xfrm rot="2700000">
              <a:off x="4907683" y="477155"/>
              <a:ext cx="1263678" cy="1263678"/>
            </a:xfrm>
            <a:prstGeom prst="teardrop">
              <a:avLst>
                <a:gd name="adj" fmla="val 100000"/>
              </a:avLst>
            </a:prstGeom>
            <a:gradFill>
              <a:gsLst>
                <a:gs pos="0">
                  <a:srgbClr val="AFAFAF"/>
                </a:gs>
                <a:gs pos="50000">
                  <a:schemeClr val="accent3"/>
                </a:gs>
                <a:gs pos="100000">
                  <a:srgbClr val="919191"/>
                </a:gs>
              </a:gsLst>
              <a:lin ang="5400000" scaled="0"/>
            </a:gra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7" name="Google Shape;175;p1"/>
            <p:cNvSpPr/>
            <p:nvPr/>
          </p:nvSpPr>
          <p:spPr>
            <a:xfrm>
              <a:off x="4950657" y="519231"/>
              <a:ext cx="1179749" cy="1179748"/>
            </a:xfrm>
            <a:prstGeom prst="ellipse"/>
            <a:solidFill>
              <a:schemeClr val="lt1">
                <a:alpha val="89803"/>
              </a:schemeClr>
            </a:solidFill>
            <a:ln w="9525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8" name="Google Shape;176;p1"/>
            <p:cNvSpPr txBox="1"/>
            <p:nvPr/>
          </p:nvSpPr>
          <p:spPr>
            <a:xfrm>
              <a:off x="5118808" y="687798"/>
              <a:ext cx="842774" cy="842614"/>
            </a:xfrm>
            <a:prstGeom prst="rect"/>
            <a:noFill/>
            <a:ln>
              <a:noFill/>
            </a:ln>
          </p:spPr>
          <p:txBody>
            <a:bodyPr anchor="ctr" anchorCtr="0" bIns="13950" lIns="13950" rIns="13950" spcFirstLastPara="1" tIns="1395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Times New Roman"/>
                <a:buNone/>
              </a:pPr>
              <a:r>
                <a:rPr b="1" sz="1100" i="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 models separately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8679" name="Google Shape;177;p1"/>
            <p:cNvSpPr/>
            <p:nvPr/>
          </p:nvSpPr>
          <p:spPr>
            <a:xfrm rot="2700000">
              <a:off x="3602157" y="477155"/>
              <a:ext cx="1263678" cy="1263678"/>
            </a:xfrm>
            <a:prstGeom prst="teardrop">
              <a:avLst>
                <a:gd name="adj" fmla="val 100000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0" name="Google Shape;178;p1"/>
            <p:cNvSpPr/>
            <p:nvPr/>
          </p:nvSpPr>
          <p:spPr>
            <a:xfrm>
              <a:off x="3644458" y="519231"/>
              <a:ext cx="1179749" cy="1179748"/>
            </a:xfrm>
            <a:prstGeom prst="ellipse"/>
            <a:solidFill>
              <a:schemeClr val="lt1">
                <a:alpha val="89803"/>
              </a:schemeClr>
            </a:solidFill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1" name="Google Shape;179;p1"/>
            <p:cNvSpPr txBox="1"/>
            <p:nvPr/>
          </p:nvSpPr>
          <p:spPr>
            <a:xfrm>
              <a:off x="3812609" y="687798"/>
              <a:ext cx="842774" cy="842614"/>
            </a:xfrm>
            <a:prstGeom prst="rect"/>
            <a:noFill/>
            <a:ln>
              <a:noFill/>
            </a:ln>
          </p:spPr>
          <p:txBody>
            <a:bodyPr anchor="ctr" anchorCtr="0" bIns="13950" lIns="13950" rIns="13950" spcFirstLastPara="1" tIns="1395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Times New Roman"/>
                <a:buNone/>
              </a:pPr>
              <a:r>
                <a:rPr b="1" dirty="0" sz="1100" i="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Load pre-trained models</a:t>
              </a:r>
              <a:endParaRPr dirty="0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8682" name="Google Shape;180;p1"/>
            <p:cNvSpPr/>
            <p:nvPr/>
          </p:nvSpPr>
          <p:spPr>
            <a:xfrm rot="2700000">
              <a:off x="2295957" y="477155"/>
              <a:ext cx="1263678" cy="1263678"/>
            </a:xfrm>
            <a:prstGeom prst="teardrop">
              <a:avLst>
                <a:gd name="adj" fmla="val 10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3" name="Google Shape;181;p1"/>
            <p:cNvSpPr/>
            <p:nvPr/>
          </p:nvSpPr>
          <p:spPr>
            <a:xfrm>
              <a:off x="2338259" y="519231"/>
              <a:ext cx="1179749" cy="1179748"/>
            </a:xfrm>
            <a:prstGeom prst="ellipse"/>
            <a:solidFill>
              <a:schemeClr val="lt1">
                <a:alpha val="89803"/>
              </a:schemeClr>
            </a:solidFill>
            <a:ln w="9525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4" name="Google Shape;182;p1"/>
            <p:cNvSpPr txBox="1"/>
            <p:nvPr/>
          </p:nvSpPr>
          <p:spPr>
            <a:xfrm>
              <a:off x="2507082" y="687798"/>
              <a:ext cx="842774" cy="842614"/>
            </a:xfrm>
            <a:prstGeom prst="rect"/>
            <a:noFill/>
            <a:ln>
              <a:noFill/>
            </a:ln>
          </p:spPr>
          <p:txBody>
            <a:bodyPr anchor="ctr" anchorCtr="0" bIns="13950" lIns="13950" rIns="13950" spcFirstLastPara="1" tIns="1395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Times New Roman"/>
                <a:buNone/>
              </a:pPr>
              <a:r>
                <a:rPr b="1" sz="1100" i="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Split data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8685" name="Google Shape;183;p1"/>
            <p:cNvSpPr/>
            <p:nvPr/>
          </p:nvSpPr>
          <p:spPr>
            <a:xfrm rot="2700000">
              <a:off x="989758" y="477155"/>
              <a:ext cx="1263678" cy="1263678"/>
            </a:xfrm>
            <a:prstGeom prst="teardrop">
              <a:avLst>
                <a:gd name="adj" fmla="val 100000"/>
              </a:avLst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6" name="Google Shape;184;p1"/>
            <p:cNvSpPr/>
            <p:nvPr/>
          </p:nvSpPr>
          <p:spPr>
            <a:xfrm>
              <a:off x="1032059" y="519231"/>
              <a:ext cx="1179749" cy="1179748"/>
            </a:xfrm>
            <a:prstGeom prst="ellipse"/>
            <a:solidFill>
              <a:schemeClr val="lt1">
                <a:alpha val="89803"/>
              </a:schemeClr>
            </a:solidFill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87" name="Google Shape;185;p1"/>
            <p:cNvSpPr txBox="1"/>
            <p:nvPr/>
          </p:nvSpPr>
          <p:spPr>
            <a:xfrm>
              <a:off x="1200883" y="687798"/>
              <a:ext cx="842774" cy="842614"/>
            </a:xfrm>
            <a:prstGeom prst="rect"/>
            <a:noFill/>
            <a:ln>
              <a:noFill/>
            </a:ln>
          </p:spPr>
          <p:txBody>
            <a:bodyPr anchor="ctr" anchorCtr="0" bIns="13950" lIns="13950" rIns="13950" spcFirstLastPara="1" tIns="1395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Times New Roman"/>
                <a:buNone/>
              </a:pPr>
              <a:r>
                <a:rPr b="1" dirty="0" sz="1100" i="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Collect and preprocess </a:t>
              </a:r>
              <a:r>
                <a:rPr b="1" dirty="0" sz="110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DDOS Dataset</a:t>
              </a:r>
              <a:endParaRPr dirty="0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" name="Google Shape;186;p1"/>
          <p:cNvGrpSpPr/>
          <p:nvPr/>
        </p:nvGrpSpPr>
        <p:grpSpPr>
          <a:xfrm>
            <a:off x="8635842" y="7814867"/>
            <a:ext cx="7757817" cy="674592"/>
            <a:chOff x="1894" y="693334"/>
            <a:chExt cx="7757817" cy="674592"/>
          </a:xfrm>
        </p:grpSpPr>
        <p:sp>
          <p:nvSpPr>
            <p:cNvPr id="1048688" name="Google Shape;187;p1"/>
            <p:cNvSpPr/>
            <p:nvPr/>
          </p:nvSpPr>
          <p:spPr>
            <a:xfrm>
              <a:off x="1894" y="693334"/>
              <a:ext cx="1686481" cy="674592"/>
            </a:xfrm>
            <a:prstGeom prst="chevron">
              <a:avLst>
                <a:gd name="adj" fmla="val 50000"/>
              </a:avLst>
            </a:pr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8689" name="Google Shape;188;p1"/>
            <p:cNvSpPr txBox="1"/>
            <p:nvPr/>
          </p:nvSpPr>
          <p:spPr>
            <a:xfrm>
              <a:off x="339190" y="693334"/>
              <a:ext cx="1011889" cy="674592"/>
            </a:xfrm>
            <a:prstGeom prst="rect"/>
            <a:noFill/>
            <a:ln>
              <a:noFill/>
            </a:ln>
          </p:spPr>
          <p:txBody>
            <a:bodyPr anchor="ctr" anchorCtr="0" bIns="20000" lIns="60000" rIns="20000" spcFirstLastPara="1" tIns="2000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imes New Roman"/>
                <a:buNone/>
              </a:pPr>
              <a:r>
                <a:rPr dirty="0" sz="150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Acquisition</a:t>
              </a:r>
              <a:endParaRPr dirty="0"/>
            </a:p>
          </p:txBody>
        </p:sp>
        <p:sp>
          <p:nvSpPr>
            <p:cNvPr id="1048690" name="Google Shape;189;p1"/>
            <p:cNvSpPr/>
            <p:nvPr/>
          </p:nvSpPr>
          <p:spPr>
            <a:xfrm>
              <a:off x="1519728" y="693334"/>
              <a:ext cx="1686481" cy="674592"/>
            </a:xfrm>
            <a:prstGeom prst="chevron">
              <a:avLst>
                <a:gd name="adj" fmla="val 50000"/>
              </a:avLst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1" name="Google Shape;190;p1"/>
            <p:cNvSpPr txBox="1"/>
            <p:nvPr/>
          </p:nvSpPr>
          <p:spPr>
            <a:xfrm>
              <a:off x="1857024" y="693334"/>
              <a:ext cx="1011889" cy="674592"/>
            </a:xfrm>
            <a:prstGeom prst="rect"/>
            <a:noFill/>
            <a:ln>
              <a:noFill/>
            </a:ln>
          </p:spPr>
          <p:txBody>
            <a:bodyPr anchor="ctr" anchorCtr="0" bIns="20000" lIns="60000" rIns="20000" spcFirstLastPara="1" tIns="2000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imes New Roman"/>
                <a:buNone/>
              </a:pPr>
              <a:r>
                <a:rPr dirty="0" sz="1500" lang="en-US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D</a:t>
              </a:r>
              <a:r>
                <a:rPr dirty="0" sz="1500" lang="en-IN" err="1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ata</a:t>
              </a:r>
              <a:r>
                <a:rPr dirty="0" sz="1500" lang="en-IN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 </a:t>
              </a:r>
              <a:r>
                <a:rPr dirty="0" sz="1500" lang="en-IN" err="1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splitiing</a:t>
              </a:r>
              <a:endParaRPr dirty="0"/>
            </a:p>
          </p:txBody>
        </p:sp>
        <p:sp>
          <p:nvSpPr>
            <p:cNvPr id="1048692" name="Google Shape;191;p1"/>
            <p:cNvSpPr/>
            <p:nvPr/>
          </p:nvSpPr>
          <p:spPr>
            <a:xfrm>
              <a:off x="3037562" y="693334"/>
              <a:ext cx="1686481" cy="674592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3" name="Google Shape;192;p1"/>
            <p:cNvSpPr txBox="1"/>
            <p:nvPr/>
          </p:nvSpPr>
          <p:spPr>
            <a:xfrm>
              <a:off x="3374858" y="693334"/>
              <a:ext cx="1011889" cy="674592"/>
            </a:xfrm>
            <a:prstGeom prst="rect"/>
            <a:noFill/>
            <a:ln>
              <a:noFill/>
            </a:ln>
          </p:spPr>
          <p:txBody>
            <a:bodyPr anchor="ctr" anchorCtr="0" bIns="20000" lIns="60000" rIns="20000" spcFirstLastPara="1" tIns="2000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imes New Roman"/>
                <a:buNone/>
              </a:pPr>
              <a:r>
                <a:rPr sz="150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setup</a:t>
              </a:r>
            </a:p>
          </p:txBody>
        </p:sp>
        <p:sp>
          <p:nvSpPr>
            <p:cNvPr id="1048694" name="Google Shape;193;p1"/>
            <p:cNvSpPr/>
            <p:nvPr/>
          </p:nvSpPr>
          <p:spPr>
            <a:xfrm>
              <a:off x="4555396" y="693334"/>
              <a:ext cx="1686481" cy="674592"/>
            </a:xfrm>
            <a:prstGeom prst="chevron">
              <a:avLst>
                <a:gd name="adj" fmla="val 50000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5" name="Google Shape;194;p1"/>
            <p:cNvSpPr txBox="1"/>
            <p:nvPr/>
          </p:nvSpPr>
          <p:spPr>
            <a:xfrm>
              <a:off x="4892692" y="693334"/>
              <a:ext cx="1011889" cy="674592"/>
            </a:xfrm>
            <a:prstGeom prst="rect"/>
            <a:noFill/>
            <a:ln>
              <a:noFill/>
            </a:ln>
          </p:spPr>
          <p:txBody>
            <a:bodyPr anchor="ctr" anchorCtr="0" bIns="20000" lIns="60000" rIns="20000" spcFirstLastPara="1" tIns="2000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imes New Roman"/>
                <a:buNone/>
              </a:pPr>
              <a:r>
                <a:rPr sz="150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Training</a:t>
              </a:r>
            </a:p>
          </p:txBody>
        </p:sp>
        <p:sp>
          <p:nvSpPr>
            <p:cNvPr id="1048696" name="Google Shape;195;p1"/>
            <p:cNvSpPr/>
            <p:nvPr/>
          </p:nvSpPr>
          <p:spPr>
            <a:xfrm>
              <a:off x="6073230" y="693334"/>
              <a:ext cx="1686481" cy="674592"/>
            </a:xfrm>
            <a:prstGeom prst="chevron">
              <a:avLst>
                <a:gd name="adj" fmla="val 50000"/>
              </a:avLst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7" name="Google Shape;196;p1"/>
            <p:cNvSpPr txBox="1"/>
            <p:nvPr/>
          </p:nvSpPr>
          <p:spPr>
            <a:xfrm>
              <a:off x="6410526" y="693334"/>
              <a:ext cx="1011889" cy="674592"/>
            </a:xfrm>
            <a:prstGeom prst="rect"/>
            <a:noFill/>
            <a:ln>
              <a:noFill/>
            </a:ln>
          </p:spPr>
          <p:txBody>
            <a:bodyPr anchor="ctr" anchorCtr="0" bIns="20000" lIns="60000" rIns="20000" spcFirstLastPara="1" tIns="2000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imes New Roman"/>
                <a:buNone/>
              </a:pPr>
              <a:r>
                <a:rPr sz="150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Precision Evaluation</a:t>
              </a:r>
            </a:p>
          </p:txBody>
        </p:sp>
      </p:grpSp>
      <p:grpSp>
        <p:nvGrpSpPr>
          <p:cNvPr id="18" name="Google Shape;209;p1"/>
          <p:cNvGrpSpPr/>
          <p:nvPr/>
        </p:nvGrpSpPr>
        <p:grpSpPr>
          <a:xfrm>
            <a:off x="204110" y="22969884"/>
            <a:ext cx="7785259" cy="707750"/>
            <a:chOff x="3805" y="662890"/>
            <a:chExt cx="7785259" cy="707750"/>
          </a:xfrm>
        </p:grpSpPr>
        <p:sp>
          <p:nvSpPr>
            <p:cNvPr id="1048698" name="Google Shape;210;p1"/>
            <p:cNvSpPr/>
            <p:nvPr/>
          </p:nvSpPr>
          <p:spPr>
            <a:xfrm>
              <a:off x="3805" y="662890"/>
              <a:ext cx="1179584" cy="707750"/>
            </a:xfrm>
            <a:prstGeom prst="roundRect">
              <a:avLst>
                <a:gd name="adj" fmla="val 10000"/>
              </a:avLst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9" name="Google Shape;211;p1"/>
            <p:cNvSpPr txBox="1"/>
            <p:nvPr/>
          </p:nvSpPr>
          <p:spPr>
            <a:xfrm>
              <a:off x="24534" y="683619"/>
              <a:ext cx="1138126" cy="666292"/>
            </a:xfrm>
            <a:prstGeom prst="rect"/>
            <a:noFill/>
            <a:ln>
              <a:noFill/>
            </a:ln>
          </p:spPr>
          <p:txBody>
            <a:bodyPr anchor="ctr" anchorCtr="0" bIns="53325" lIns="53325" rIns="53325" spcFirstLastPara="1" tIns="53325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dirty="0" sz="140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loading</a:t>
              </a:r>
              <a:endParaRPr dirty="0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700" name="Google Shape;212;p1"/>
            <p:cNvSpPr/>
            <p:nvPr/>
          </p:nvSpPr>
          <p:spPr>
            <a:xfrm>
              <a:off x="1301348" y="870496"/>
              <a:ext cx="250071" cy="29253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1" name="Google Shape;213;p1"/>
            <p:cNvSpPr txBox="1"/>
            <p:nvPr/>
          </p:nvSpPr>
          <p:spPr>
            <a:xfrm>
              <a:off x="1301348" y="929003"/>
              <a:ext cx="175050" cy="175523"/>
            </a:xfrm>
            <a:prstGeom prst="rect"/>
            <a:noFill/>
            <a:ln>
              <a:noFill/>
            </a:ln>
          </p:spPr>
          <p:txBody>
            <a:bodyPr anchor="ctr" anchorCtr="0" bIns="0" lIns="0" rIns="0" spcFirstLastPara="1" tIns="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702" name="Google Shape;214;p1"/>
            <p:cNvSpPr/>
            <p:nvPr/>
          </p:nvSpPr>
          <p:spPr>
            <a:xfrm>
              <a:off x="1655223" y="662890"/>
              <a:ext cx="1179584" cy="707750"/>
            </a:xfrm>
            <a:prstGeom prst="roundRect">
              <a:avLst>
                <a:gd name="adj" fmla="val 10000"/>
              </a:avLst>
            </a:prstGeom>
            <a:solidFill>
              <a:srgbClr val="93F31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3" name="Google Shape;215;p1"/>
            <p:cNvSpPr txBox="1"/>
            <p:nvPr/>
          </p:nvSpPr>
          <p:spPr>
            <a:xfrm>
              <a:off x="1675952" y="683619"/>
              <a:ext cx="1138126" cy="666292"/>
            </a:xfrm>
            <a:prstGeom prst="rect"/>
            <a:noFill/>
            <a:ln>
              <a:noFill/>
            </a:ln>
          </p:spPr>
          <p:txBody>
            <a:bodyPr anchor="ctr" anchorCtr="0" bIns="53325" lIns="53325" rIns="53325" spcFirstLastPara="1" tIns="53325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dirty="0" sz="140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Preprocessing data</a:t>
              </a:r>
              <a:endParaRPr dirty="0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704" name="Google Shape;216;p1"/>
            <p:cNvSpPr/>
            <p:nvPr/>
          </p:nvSpPr>
          <p:spPr>
            <a:xfrm>
              <a:off x="2952767" y="870496"/>
              <a:ext cx="250071" cy="29253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5EE1F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5" name="Google Shape;217;p1"/>
            <p:cNvSpPr txBox="1"/>
            <p:nvPr/>
          </p:nvSpPr>
          <p:spPr>
            <a:xfrm>
              <a:off x="2952767" y="929003"/>
              <a:ext cx="175050" cy="175523"/>
            </a:xfrm>
            <a:prstGeom prst="rect"/>
            <a:noFill/>
            <a:ln>
              <a:noFill/>
            </a:ln>
          </p:spPr>
          <p:txBody>
            <a:bodyPr anchor="ctr" anchorCtr="0" bIns="0" lIns="0" rIns="0" spcFirstLastPara="1" tIns="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706" name="Google Shape;218;p1"/>
            <p:cNvSpPr/>
            <p:nvPr/>
          </p:nvSpPr>
          <p:spPr>
            <a:xfrm>
              <a:off x="3306642" y="662890"/>
              <a:ext cx="1179584" cy="707750"/>
            </a:xfrm>
            <a:prstGeom prst="roundRect">
              <a:avLst>
                <a:gd name="adj" fmla="val 10000"/>
              </a:avLst>
            </a:prstGeom>
            <a:solidFill>
              <a:srgbClr val="2EE84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7" name="Google Shape;219;p1"/>
            <p:cNvSpPr txBox="1"/>
            <p:nvPr/>
          </p:nvSpPr>
          <p:spPr>
            <a:xfrm>
              <a:off x="3327371" y="683619"/>
              <a:ext cx="1138126" cy="666292"/>
            </a:xfrm>
            <a:prstGeom prst="rect"/>
            <a:noFill/>
            <a:ln>
              <a:noFill/>
            </a:ln>
          </p:spPr>
          <p:txBody>
            <a:bodyPr anchor="ctr" anchorCtr="0" bIns="53325" lIns="53325" rIns="53325" spcFirstLastPara="1" tIns="53325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sz="140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Configuration</a:t>
              </a:r>
            </a:p>
          </p:txBody>
        </p:sp>
        <p:sp>
          <p:nvSpPr>
            <p:cNvPr id="1048708" name="Google Shape;220;p1"/>
            <p:cNvSpPr/>
            <p:nvPr/>
          </p:nvSpPr>
          <p:spPr>
            <a:xfrm>
              <a:off x="4604185" y="870496"/>
              <a:ext cx="250071" cy="29253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3DE199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09" name="Google Shape;221;p1"/>
            <p:cNvSpPr txBox="1"/>
            <p:nvPr/>
          </p:nvSpPr>
          <p:spPr>
            <a:xfrm>
              <a:off x="4604185" y="929003"/>
              <a:ext cx="175050" cy="175523"/>
            </a:xfrm>
            <a:prstGeom prst="rect"/>
            <a:noFill/>
            <a:ln>
              <a:noFill/>
            </a:ln>
          </p:spPr>
          <p:txBody>
            <a:bodyPr anchor="ctr" anchorCtr="0" bIns="0" lIns="0" rIns="0" spcFirstLastPara="1" tIns="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710" name="Google Shape;222;p1"/>
            <p:cNvSpPr/>
            <p:nvPr/>
          </p:nvSpPr>
          <p:spPr>
            <a:xfrm>
              <a:off x="4958061" y="662890"/>
              <a:ext cx="1179584" cy="707750"/>
            </a:xfrm>
            <a:prstGeom prst="roundRect">
              <a:avLst>
                <a:gd name="adj" fmla="val 10000"/>
              </a:avLst>
            </a:prstGeom>
            <a:solidFill>
              <a:srgbClr val="44DEB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1" name="Google Shape;223;p1"/>
            <p:cNvSpPr txBox="1"/>
            <p:nvPr/>
          </p:nvSpPr>
          <p:spPr>
            <a:xfrm>
              <a:off x="4978790" y="683619"/>
              <a:ext cx="1138126" cy="666292"/>
            </a:xfrm>
            <a:prstGeom prst="rect"/>
            <a:noFill/>
            <a:ln>
              <a:noFill/>
            </a:ln>
          </p:spPr>
          <p:txBody>
            <a:bodyPr anchor="ctr" anchorCtr="0" bIns="53325" lIns="53325" rIns="53325" spcFirstLastPara="1" tIns="53325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sz="140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Independent Model Training</a:t>
              </a:r>
            </a:p>
          </p:txBody>
        </p:sp>
        <p:sp>
          <p:nvSpPr>
            <p:cNvPr id="1048712" name="Google Shape;224;p1"/>
            <p:cNvSpPr/>
            <p:nvPr/>
          </p:nvSpPr>
          <p:spPr>
            <a:xfrm>
              <a:off x="6255604" y="870496"/>
              <a:ext cx="250071" cy="29253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5999D5"/>
            </a:solidFill>
            <a:ln>
              <a:noFill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3" name="Google Shape;225;p1"/>
            <p:cNvSpPr txBox="1"/>
            <p:nvPr/>
          </p:nvSpPr>
          <p:spPr>
            <a:xfrm>
              <a:off x="6255604" y="929003"/>
              <a:ext cx="175050" cy="175523"/>
            </a:xfrm>
            <a:prstGeom prst="rect"/>
            <a:noFill/>
            <a:ln>
              <a:noFill/>
            </a:ln>
          </p:spPr>
          <p:txBody>
            <a:bodyPr anchor="ctr" anchorCtr="0" bIns="0" lIns="0" rIns="0" spcFirstLastPara="1" tIns="0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714" name="Google Shape;226;p1"/>
            <p:cNvSpPr/>
            <p:nvPr/>
          </p:nvSpPr>
          <p:spPr>
            <a:xfrm>
              <a:off x="6609480" y="662890"/>
              <a:ext cx="1179584" cy="707750"/>
            </a:xfrm>
            <a:prstGeom prst="roundRect">
              <a:avLst>
                <a:gd name="adj" fmla="val 10000"/>
              </a:avLst>
            </a:prstGeom>
            <a:solidFill>
              <a:srgbClr val="5999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anchor="ctr" anchorCtr="0" bIns="91425" lIns="91425" rIns="91425" spcFirstLastPara="1" tIns="91425" wrap="square">
              <a:noAutofit/>
            </a:bodyPr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715" name="Google Shape;227;p1"/>
            <p:cNvSpPr txBox="1"/>
            <p:nvPr/>
          </p:nvSpPr>
          <p:spPr>
            <a:xfrm>
              <a:off x="6630209" y="683619"/>
              <a:ext cx="1138126" cy="666292"/>
            </a:xfrm>
            <a:prstGeom prst="rect"/>
            <a:noFill/>
            <a:ln>
              <a:noFill/>
            </a:ln>
          </p:spPr>
          <p:txBody>
            <a:bodyPr anchor="ctr" anchorCtr="0" bIns="53325" lIns="53325" rIns="53325" spcFirstLastPara="1" tIns="53325" wrap="square">
              <a:noAutofit/>
            </a:bodyPr>
            <a:p>
              <a:pPr algn="ctr" indent="0" lvl="0" marL="0" marR="0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sz="1400" lang="en-IN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Specificity Assessment</a:t>
              </a:r>
            </a:p>
          </p:txBody>
        </p:sp>
      </p:grpSp>
      <p:graphicFrame>
        <p:nvGraphicFramePr>
          <p:cNvPr id="4194308" name="Diagram 4"/>
          <p:cNvGraphicFramePr>
            <a:graphicFrameLocks/>
          </p:cNvGraphicFramePr>
          <p:nvPr/>
        </p:nvGraphicFramePr>
        <p:xfrm>
          <a:off x="8697593" y="22255482"/>
          <a:ext cx="7366756" cy="204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1" r:qs="rId5" r:cs="rId4"/>
          </a:graphicData>
        </a:graphic>
      </p:graphicFrame>
      <p:pic>
        <p:nvPicPr>
          <p:cNvPr id="2097157" name="Picture 15" descr="6+ Thousand Ddos Protection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xmlns:r="http://schemas.openxmlformats.org/officeDocument/2006/relationships" r:embed="rId11"/>
          <a:srcRect l="11710" r="34000"/>
          <a:stretch>
            <a:fillRect/>
          </a:stretch>
        </p:blipFill>
        <p:spPr bwMode="auto">
          <a:xfrm>
            <a:off x="6320432" y="4272294"/>
            <a:ext cx="1837465" cy="1970749"/>
          </a:xfrm>
          <a:prstGeom prst="rect"/>
          <a:noFill/>
        </p:spPr>
      </p:pic>
      <p:pic>
        <p:nvPicPr>
          <p:cNvPr id="2097158" name="Picture 17" descr="DDoS Protection Services: Security, Monitoring, &amp; Attack Solutions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2"/>
          <a:srcRect/>
          <a:stretch>
            <a:fillRect/>
          </a:stretch>
        </p:blipFill>
        <p:spPr bwMode="auto">
          <a:xfrm>
            <a:off x="14758038" y="4053767"/>
            <a:ext cx="1568755" cy="2192217"/>
          </a:xfrm>
          <a:prstGeom prst="rect"/>
          <a:noFill/>
        </p:spPr>
      </p:pic>
      <p:pic>
        <p:nvPicPr>
          <p:cNvPr id="2097159" name="Picture 19" descr="Stop DDoS Attacks From Hurting Your Business | Arkose Labs"/>
          <p:cNvPicPr>
            <a:picLocks noChangeAspect="1" noChangeArrowheads="1"/>
          </p:cNvPicPr>
          <p:nvPr/>
        </p:nvPicPr>
        <p:blipFill rotWithShape="1">
          <a:blip xmlns:r="http://schemas.openxmlformats.org/officeDocument/2006/relationships" r:embed="rId13"/>
          <a:srcRect r="14895"/>
          <a:stretch>
            <a:fillRect/>
          </a:stretch>
        </p:blipFill>
        <p:spPr bwMode="auto">
          <a:xfrm>
            <a:off x="6526961" y="19664067"/>
            <a:ext cx="1670191" cy="1760172"/>
          </a:xfrm>
          <a:prstGeom prst="rect"/>
          <a:noFill/>
        </p:spPr>
      </p:pic>
      <p:pic>
        <p:nvPicPr>
          <p:cNvPr id="2097160" name="Picture 21" descr="How are DDoS attacks impacting businesses and services? | Cyber Magazine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4"/>
          <a:srcRect/>
          <a:stretch>
            <a:fillRect/>
          </a:stretch>
        </p:blipFill>
        <p:spPr bwMode="auto">
          <a:xfrm>
            <a:off x="14717114" y="19617753"/>
            <a:ext cx="1636100" cy="1777584"/>
          </a:xfrm>
          <a:prstGeom prst="rect"/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Ganesh Moorthy</dc:creator>
  <cp:lastModifiedBy>charles240997@gmail.com</cp:lastModifiedBy>
  <dcterms:created xsi:type="dcterms:W3CDTF">2023-04-18T21:35:46Z</dcterms:created>
  <dcterms:modified xsi:type="dcterms:W3CDTF">2026-08-16T05:10:08Z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bc6563d68c264a90ba0b87bfe923f079</vt:lpwstr>
  </property>
</Properties>
</file>